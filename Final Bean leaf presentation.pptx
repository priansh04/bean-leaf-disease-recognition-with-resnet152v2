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4"/>
  </p:sldMasterIdLst>
  <p:notesMasterIdLst>
    <p:notesMasterId r:id="rId17"/>
  </p:notesMasterIdLst>
  <p:handoutMasterIdLst>
    <p:handoutMasterId r:id="rId18"/>
  </p:handoutMasterIdLst>
  <p:sldIdLst>
    <p:sldId id="256" r:id="rId5"/>
    <p:sldId id="257" r:id="rId6"/>
    <p:sldId id="269" r:id="rId7"/>
    <p:sldId id="270" r:id="rId8"/>
    <p:sldId id="272" r:id="rId9"/>
    <p:sldId id="271" r:id="rId10"/>
    <p:sldId id="273" r:id="rId11"/>
    <p:sldId id="274" r:id="rId12"/>
    <p:sldId id="275" r:id="rId13"/>
    <p:sldId id="276" r:id="rId14"/>
    <p:sldId id="277" r:id="rId15"/>
    <p:sldId id="268" r:id="rId16"/>
  </p:sldIdLst>
  <p:sldSz cx="9144000" cy="6858000" type="screen4x3"/>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AB2E2"/>
    <a:srgbClr val="2A66AC"/>
    <a:srgbClr val="75A4DD"/>
    <a:srgbClr val="2E6CB8"/>
    <a:srgbClr val="2A65AC"/>
    <a:srgbClr val="255997"/>
    <a:srgbClr val="3379CD"/>
    <a:srgbClr val="558ED5"/>
    <a:srgbClr val="78A6DE"/>
    <a:srgbClr val="9DBEE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9" d="100"/>
          <a:sy n="59" d="100"/>
        </p:scale>
        <p:origin x="1500" y="4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F607C9A-EDB5-4C0A-BCFE-81AAF6133E68}"/>
              </a:ext>
            </a:extLst>
          </p:cNvPr>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54F00B0C-2831-4624-A5D3-43F42D30BA74}"/>
              </a:ext>
            </a:extLst>
          </p:cNvPr>
          <p:cNvSpPr>
            <a:spLocks noGrp="1"/>
          </p:cNvSpPr>
          <p:nvPr>
            <p:ph type="dt" sz="quarter" idx="1"/>
          </p:nvPr>
        </p:nvSpPr>
        <p:spPr>
          <a:xfrm>
            <a:off x="4281488" y="0"/>
            <a:ext cx="3276600" cy="536575"/>
          </a:xfrm>
          <a:prstGeom prst="rect">
            <a:avLst/>
          </a:prstGeom>
        </p:spPr>
        <p:txBody>
          <a:bodyPr vert="horz" lIns="91440" tIns="45720" rIns="91440" bIns="45720" rtlCol="0"/>
          <a:lstStyle>
            <a:lvl1pPr algn="r">
              <a:defRPr sz="1200"/>
            </a:lvl1pPr>
          </a:lstStyle>
          <a:p>
            <a:fld id="{25D2B5EB-424D-4C39-A8AB-65F1D7895EF3}" type="datetimeFigureOut">
              <a:rPr lang="en-US" smtClean="0"/>
              <a:pPr/>
              <a:t>5/14/2026</a:t>
            </a:fld>
            <a:endParaRPr lang="en-US"/>
          </a:p>
        </p:txBody>
      </p:sp>
      <p:sp>
        <p:nvSpPr>
          <p:cNvPr id="4" name="Footer Placeholder 3">
            <a:extLst>
              <a:ext uri="{FF2B5EF4-FFF2-40B4-BE49-F238E27FC236}">
                <a16:creationId xmlns:a16="http://schemas.microsoft.com/office/drawing/2014/main" id="{B334ABA9-0C2F-480A-B554-A457296C39B5}"/>
              </a:ext>
            </a:extLst>
          </p:cNvPr>
          <p:cNvSpPr>
            <a:spLocks noGrp="1"/>
          </p:cNvSpPr>
          <p:nvPr>
            <p:ph type="ftr" sz="quarter" idx="2"/>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p>
        </p:txBody>
      </p:sp>
      <p:sp>
        <p:nvSpPr>
          <p:cNvPr id="5" name="Slide Number Placeholder 4">
            <a:extLst>
              <a:ext uri="{FF2B5EF4-FFF2-40B4-BE49-F238E27FC236}">
                <a16:creationId xmlns:a16="http://schemas.microsoft.com/office/drawing/2014/main" id="{46F3BA01-5457-4975-8BF5-D0EAD49D534B}"/>
              </a:ext>
            </a:extLst>
          </p:cNvPr>
          <p:cNvSpPr>
            <a:spLocks noGrp="1"/>
          </p:cNvSpPr>
          <p:nvPr>
            <p:ph type="sldNum" sz="quarter" idx="3"/>
          </p:nvPr>
        </p:nvSpPr>
        <p:spPr>
          <a:xfrm>
            <a:off x="4281488" y="10155238"/>
            <a:ext cx="3276600" cy="536575"/>
          </a:xfrm>
          <a:prstGeom prst="rect">
            <a:avLst/>
          </a:prstGeom>
        </p:spPr>
        <p:txBody>
          <a:bodyPr vert="horz" lIns="91440" tIns="45720" rIns="91440" bIns="45720" rtlCol="0" anchor="b"/>
          <a:lstStyle>
            <a:lvl1pPr algn="r">
              <a:defRPr sz="1200"/>
            </a:lvl1pPr>
          </a:lstStyle>
          <a:p>
            <a:fld id="{E4199376-55CE-4213-A97D-9D70929AC508}" type="slidenum">
              <a:rPr lang="en-US" smtClean="0"/>
              <a:pPr/>
              <a:t>‹#›</a:t>
            </a:fld>
            <a:endParaRPr lang="en-US"/>
          </a:p>
        </p:txBody>
      </p:sp>
    </p:spTree>
    <p:extLst>
      <p:ext uri="{BB962C8B-B14F-4D97-AF65-F5344CB8AC3E}">
        <p14:creationId xmlns:p14="http://schemas.microsoft.com/office/powerpoint/2010/main" val="4123002274"/>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281488" y="0"/>
            <a:ext cx="3276600" cy="536575"/>
          </a:xfrm>
          <a:prstGeom prst="rect">
            <a:avLst/>
          </a:prstGeom>
        </p:spPr>
        <p:txBody>
          <a:bodyPr vert="horz" lIns="91440" tIns="45720" rIns="91440" bIns="45720" rtlCol="0"/>
          <a:lstStyle>
            <a:lvl1pPr algn="r">
              <a:defRPr sz="1200"/>
            </a:lvl1pPr>
          </a:lstStyle>
          <a:p>
            <a:fld id="{888BC1CF-45D5-4DEE-AAB8-8C5341844FC9}" type="datetimeFigureOut">
              <a:rPr lang="en-US" smtClean="0"/>
              <a:pPr/>
              <a:t>5/14/2026</a:t>
            </a:fld>
            <a:endParaRPr lang="en-US"/>
          </a:p>
        </p:txBody>
      </p:sp>
      <p:sp>
        <p:nvSpPr>
          <p:cNvPr id="4" name="Slide Image Placeholder 3"/>
          <p:cNvSpPr>
            <a:spLocks noGrp="1" noRot="1" noChangeAspect="1"/>
          </p:cNvSpPr>
          <p:nvPr>
            <p:ph type="sldImg" idx="2"/>
          </p:nvPr>
        </p:nvSpPr>
        <p:spPr>
          <a:xfrm>
            <a:off x="1374775" y="1336675"/>
            <a:ext cx="4810125" cy="36083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55650" y="5145088"/>
            <a:ext cx="6048375" cy="42100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p>
        </p:txBody>
      </p:sp>
      <p:sp>
        <p:nvSpPr>
          <p:cNvPr id="7" name="Slide Number Placeholder 6"/>
          <p:cNvSpPr>
            <a:spLocks noGrp="1"/>
          </p:cNvSpPr>
          <p:nvPr>
            <p:ph type="sldNum" sz="quarter" idx="5"/>
          </p:nvPr>
        </p:nvSpPr>
        <p:spPr>
          <a:xfrm>
            <a:off x="4281488" y="10155238"/>
            <a:ext cx="3276600" cy="536575"/>
          </a:xfrm>
          <a:prstGeom prst="rect">
            <a:avLst/>
          </a:prstGeom>
        </p:spPr>
        <p:txBody>
          <a:bodyPr vert="horz" lIns="91440" tIns="45720" rIns="91440" bIns="45720" rtlCol="0" anchor="b"/>
          <a:lstStyle>
            <a:lvl1pPr algn="r">
              <a:defRPr sz="1200"/>
            </a:lvl1pPr>
          </a:lstStyle>
          <a:p>
            <a:fld id="{C5A7523A-12D4-4E0F-9409-B3F845B48333}" type="slidenum">
              <a:rPr lang="en-US" smtClean="0"/>
              <a:pPr/>
              <a:t>‹#›</a:t>
            </a:fld>
            <a:endParaRPr lang="en-US"/>
          </a:p>
        </p:txBody>
      </p:sp>
    </p:spTree>
    <p:extLst>
      <p:ext uri="{BB962C8B-B14F-4D97-AF65-F5344CB8AC3E}">
        <p14:creationId xmlns:p14="http://schemas.microsoft.com/office/powerpoint/2010/main" val="3458122221"/>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5A7523A-12D4-4E0F-9409-B3F845B48333}" type="slidenum">
              <a:rPr lang="en-US" smtClean="0"/>
              <a:pPr/>
              <a:t>1</a:t>
            </a:fld>
            <a:endParaRPr lang="en-US"/>
          </a:p>
        </p:txBody>
      </p:sp>
      <p:sp>
        <p:nvSpPr>
          <p:cNvPr id="5" name="Footer Placeholder 4">
            <a:extLst>
              <a:ext uri="{FF2B5EF4-FFF2-40B4-BE49-F238E27FC236}">
                <a16:creationId xmlns:a16="http://schemas.microsoft.com/office/drawing/2014/main" id="{A599BB95-9755-4BC6-8051-C2B8CF54F2A1}"/>
              </a:ext>
            </a:extLst>
          </p:cNvPr>
          <p:cNvSpPr>
            <a:spLocks noGrp="1"/>
          </p:cNvSpPr>
          <p:nvPr>
            <p:ph type="ftr" sz="quarter" idx="4"/>
          </p:nvPr>
        </p:nvSpPr>
        <p:spPr/>
        <p:txBody>
          <a:bodyPr/>
          <a:lstStyle/>
          <a:p>
            <a:r>
              <a:rPr lang="en-US"/>
              <a:t>Name of the faculty [Group: G00] [Sem:2nd]</a:t>
            </a:r>
          </a:p>
        </p:txBody>
      </p:sp>
    </p:spTree>
    <p:extLst>
      <p:ext uri="{BB962C8B-B14F-4D97-AF65-F5344CB8AC3E}">
        <p14:creationId xmlns:p14="http://schemas.microsoft.com/office/powerpoint/2010/main" val="42548747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0"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1" name="PlaceHolder 2"/>
          <p:cNvSpPr>
            <a:spLocks noGrp="1"/>
          </p:cNvSpPr>
          <p:nvPr>
            <p:ph type="subTitle"/>
          </p:nvPr>
        </p:nvSpPr>
        <p:spPr>
          <a:xfrm>
            <a:off x="457200" y="1604520"/>
            <a:ext cx="8229240" cy="3977280"/>
          </a:xfrm>
          <a:prstGeom prst="rect">
            <a:avLst/>
          </a:prstGeom>
        </p:spPr>
        <p:txBody>
          <a:bodyPr lIns="0" tIns="0" rIns="0" bIns="0" anchor="ctr">
            <a:noAutofit/>
          </a:bodyPr>
          <a:lstStyle/>
          <a:p>
            <a:pPr algn="ctr"/>
            <a:endParaRPr lang="en-GB" sz="3200" b="0" strike="noStrike" spc="-1" dirty="0">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3" name="PlaceHolder 2"/>
          <p:cNvSpPr>
            <a:spLocks noGrp="1"/>
          </p:cNvSpPr>
          <p:nvPr>
            <p:ph type="body"/>
          </p:nvPr>
        </p:nvSpPr>
        <p:spPr>
          <a:xfrm>
            <a:off x="457200" y="1604520"/>
            <a:ext cx="8229240" cy="397728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5"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26"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8" name="PlaceHolder 1"/>
          <p:cNvSpPr>
            <a:spLocks noGrp="1"/>
          </p:cNvSpPr>
          <p:nvPr>
            <p:ph type="subTitle"/>
          </p:nvPr>
        </p:nvSpPr>
        <p:spPr>
          <a:xfrm>
            <a:off x="0" y="0"/>
            <a:ext cx="5486040" cy="4238280"/>
          </a:xfrm>
          <a:prstGeom prst="rect">
            <a:avLst/>
          </a:prstGeom>
        </p:spPr>
        <p:txBody>
          <a:bodyPr lIns="0" tIns="0" rIns="0" bIns="0" anchor="ctr">
            <a:noAutofit/>
          </a:bodyPr>
          <a:lstStyle/>
          <a:p>
            <a:pPr algn="ctr"/>
            <a:endParaRPr lang="en-GB"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0"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1"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2"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33"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4"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5"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6" name="PlaceHolder 4"/>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3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8"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9"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0" name="PlaceHolder 4"/>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41"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42" name="PlaceHolder 2"/>
          <p:cNvSpPr>
            <a:spLocks noGrp="1"/>
          </p:cNvSpPr>
          <p:nvPr>
            <p:ph type="body"/>
          </p:nvPr>
        </p:nvSpPr>
        <p:spPr>
          <a:xfrm>
            <a:off x="457200" y="160452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3" name="PlaceHolder 3"/>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4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45"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6"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7"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8" name="PlaceHolder 5"/>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50" name="PlaceHolder 2"/>
          <p:cNvSpPr>
            <a:spLocks noGrp="1"/>
          </p:cNvSpPr>
          <p:nvPr>
            <p:ph type="body"/>
          </p:nvPr>
        </p:nvSpPr>
        <p:spPr>
          <a:xfrm>
            <a:off x="45720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1" name="PlaceHolder 3"/>
          <p:cNvSpPr>
            <a:spLocks noGrp="1"/>
          </p:cNvSpPr>
          <p:nvPr>
            <p:ph type="body"/>
          </p:nvPr>
        </p:nvSpPr>
        <p:spPr>
          <a:xfrm>
            <a:off x="323964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2" name="PlaceHolder 4"/>
          <p:cNvSpPr>
            <a:spLocks noGrp="1"/>
          </p:cNvSpPr>
          <p:nvPr>
            <p:ph type="body"/>
          </p:nvPr>
        </p:nvSpPr>
        <p:spPr>
          <a:xfrm>
            <a:off x="602208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3" name="PlaceHolder 5"/>
          <p:cNvSpPr>
            <a:spLocks noGrp="1"/>
          </p:cNvSpPr>
          <p:nvPr>
            <p:ph type="body"/>
          </p:nvPr>
        </p:nvSpPr>
        <p:spPr>
          <a:xfrm>
            <a:off x="45720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4" name="PlaceHolder 6"/>
          <p:cNvSpPr>
            <a:spLocks noGrp="1"/>
          </p:cNvSpPr>
          <p:nvPr>
            <p:ph type="body"/>
          </p:nvPr>
        </p:nvSpPr>
        <p:spPr>
          <a:xfrm>
            <a:off x="323964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5" name="PlaceHolder 7"/>
          <p:cNvSpPr>
            <a:spLocks noGrp="1"/>
          </p:cNvSpPr>
          <p:nvPr>
            <p:ph type="body"/>
          </p:nvPr>
        </p:nvSpPr>
        <p:spPr>
          <a:xfrm>
            <a:off x="602208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CustomShape 1"/>
          <p:cNvSpPr/>
          <p:nvPr/>
        </p:nvSpPr>
        <p:spPr>
          <a:xfrm>
            <a:off x="0" y="0"/>
            <a:ext cx="914364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sp>
        <p:nvSpPr>
          <p:cNvPr id="21" name="CustomShape 2"/>
          <p:cNvSpPr/>
          <p:nvPr/>
        </p:nvSpPr>
        <p:spPr>
          <a:xfrm flipV="1">
            <a:off x="0" y="6704640"/>
            <a:ext cx="9143640" cy="197640"/>
          </a:xfrm>
          <a:prstGeom prst="rect">
            <a:avLst/>
          </a:prstGeom>
          <a:solidFill>
            <a:srgbClr val="FF0000"/>
          </a:solidFill>
          <a:ln w="9360">
            <a:noFill/>
          </a:ln>
          <a:scene3d>
            <a:camera prst="orthographicFront"/>
            <a:lightRig rig="threePt" dir="t"/>
          </a:scene3d>
          <a:sp3d/>
        </p:spPr>
        <p:style>
          <a:lnRef idx="0">
            <a:scrgbClr r="0" g="0" b="0"/>
          </a:lnRef>
          <a:fillRef idx="0">
            <a:scrgbClr r="0" g="0" b="0"/>
          </a:fillRef>
          <a:effectRef idx="0">
            <a:scrgbClr r="0" g="0" b="0"/>
          </a:effectRef>
          <a:fontRef idx="minor"/>
        </p:style>
      </p:sp>
      <p:pic>
        <p:nvPicPr>
          <p:cNvPr id="2" name="Picture 10" descr="LOGO.gif"/>
          <p:cNvPicPr/>
          <p:nvPr/>
        </p:nvPicPr>
        <p:blipFill>
          <a:blip r:embed="rId14"/>
          <a:srcRect b="10718"/>
          <a:stretch/>
        </p:blipFill>
        <p:spPr>
          <a:xfrm>
            <a:off x="6553080" y="228600"/>
            <a:ext cx="2057040" cy="634680"/>
          </a:xfrm>
          <a:prstGeom prst="rect">
            <a:avLst/>
          </a:prstGeom>
          <a:ln w="9360">
            <a:noFill/>
          </a:ln>
        </p:spPr>
      </p:pic>
      <p:pic>
        <p:nvPicPr>
          <p:cNvPr id="3" name="Picture 10" descr="LOGO.gif"/>
          <p:cNvPicPr/>
          <p:nvPr/>
        </p:nvPicPr>
        <p:blipFill>
          <a:blip r:embed="rId14"/>
          <a:srcRect b="10718"/>
          <a:stretch/>
        </p:blipFill>
        <p:spPr>
          <a:xfrm>
            <a:off x="6553080" y="228600"/>
            <a:ext cx="2057040" cy="634680"/>
          </a:xfrm>
          <a:prstGeom prst="rect">
            <a:avLst/>
          </a:prstGeom>
          <a:ln w="9360">
            <a:noFill/>
          </a:ln>
        </p:spPr>
      </p:pic>
      <p:grpSp>
        <p:nvGrpSpPr>
          <p:cNvPr id="4" name="Group 3"/>
          <p:cNvGrpSpPr/>
          <p:nvPr/>
        </p:nvGrpSpPr>
        <p:grpSpPr>
          <a:xfrm>
            <a:off x="6146640" y="0"/>
            <a:ext cx="2997000" cy="875880"/>
            <a:chOff x="6146640" y="0"/>
            <a:chExt cx="2997000" cy="875880"/>
          </a:xfrm>
        </p:grpSpPr>
        <p:sp>
          <p:nvSpPr>
            <p:cNvPr id="5" name="CustomShape 4"/>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pic>
          <p:nvPicPr>
            <p:cNvPr id="6" name="Picture 9" descr="LOGO.gif"/>
            <p:cNvPicPr/>
            <p:nvPr/>
          </p:nvPicPr>
          <p:blipFill>
            <a:blip r:embed="rId14"/>
            <a:srcRect b="10718"/>
            <a:stretch/>
          </p:blipFill>
          <p:spPr>
            <a:xfrm>
              <a:off x="6553080" y="228600"/>
              <a:ext cx="2057040" cy="634680"/>
            </a:xfrm>
            <a:prstGeom prst="rect">
              <a:avLst/>
            </a:prstGeom>
            <a:ln w="9360">
              <a:noFill/>
            </a:ln>
          </p:spPr>
        </p:pic>
        <p:sp>
          <p:nvSpPr>
            <p:cNvPr id="7" name="CustomShape 5"/>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grpSp>
      <p:pic>
        <p:nvPicPr>
          <p:cNvPr id="8" name="Picture 15" descr="logo.jpg"/>
          <p:cNvPicPr/>
          <p:nvPr/>
        </p:nvPicPr>
        <p:blipFill>
          <a:blip r:embed="rId15"/>
          <a:stretch/>
        </p:blipFill>
        <p:spPr>
          <a:xfrm>
            <a:off x="6553080" y="228600"/>
            <a:ext cx="1920600" cy="609120"/>
          </a:xfrm>
          <a:prstGeom prst="rect">
            <a:avLst/>
          </a:prstGeom>
          <a:ln w="9360">
            <a:noFill/>
          </a:ln>
        </p:spPr>
      </p:pic>
      <p:pic>
        <p:nvPicPr>
          <p:cNvPr id="9" name="Picture 10" descr="LOGO.gif"/>
          <p:cNvPicPr/>
          <p:nvPr/>
        </p:nvPicPr>
        <p:blipFill>
          <a:blip r:embed="rId14"/>
          <a:srcRect b="10718"/>
          <a:stretch/>
        </p:blipFill>
        <p:spPr>
          <a:xfrm>
            <a:off x="6553080" y="228600"/>
            <a:ext cx="2057040" cy="634680"/>
          </a:xfrm>
          <a:prstGeom prst="rect">
            <a:avLst/>
          </a:prstGeom>
          <a:ln w="9360">
            <a:noFill/>
          </a:ln>
        </p:spPr>
      </p:pic>
      <p:grpSp>
        <p:nvGrpSpPr>
          <p:cNvPr id="10" name="Group 6"/>
          <p:cNvGrpSpPr/>
          <p:nvPr/>
        </p:nvGrpSpPr>
        <p:grpSpPr>
          <a:xfrm>
            <a:off x="6146640" y="0"/>
            <a:ext cx="2997000" cy="875880"/>
            <a:chOff x="6146640" y="0"/>
            <a:chExt cx="2997000" cy="875880"/>
          </a:xfrm>
        </p:grpSpPr>
        <p:sp>
          <p:nvSpPr>
            <p:cNvPr id="11" name="CustomShape 7"/>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pic>
          <p:nvPicPr>
            <p:cNvPr id="12" name="Picture 9" descr="LOGO.gif"/>
            <p:cNvPicPr/>
            <p:nvPr/>
          </p:nvPicPr>
          <p:blipFill>
            <a:blip r:embed="rId14"/>
            <a:srcRect b="10718"/>
            <a:stretch/>
          </p:blipFill>
          <p:spPr>
            <a:xfrm>
              <a:off x="6553080" y="228600"/>
              <a:ext cx="2057040" cy="634680"/>
            </a:xfrm>
            <a:prstGeom prst="rect">
              <a:avLst/>
            </a:prstGeom>
            <a:ln w="9360">
              <a:noFill/>
            </a:ln>
          </p:spPr>
        </p:pic>
        <p:sp>
          <p:nvSpPr>
            <p:cNvPr id="13" name="CustomShape 8"/>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grpSp>
      <p:pic>
        <p:nvPicPr>
          <p:cNvPr id="14" name="Picture 15" descr="logo.jpg"/>
          <p:cNvPicPr/>
          <p:nvPr/>
        </p:nvPicPr>
        <p:blipFill>
          <a:blip r:embed="rId15"/>
          <a:stretch/>
        </p:blipFill>
        <p:spPr>
          <a:xfrm>
            <a:off x="6553080" y="228600"/>
            <a:ext cx="1920600" cy="609120"/>
          </a:xfrm>
          <a:prstGeom prst="rect">
            <a:avLst/>
          </a:prstGeom>
          <a:ln w="9360">
            <a:noFill/>
          </a:ln>
        </p:spPr>
      </p:pic>
      <p:sp>
        <p:nvSpPr>
          <p:cNvPr id="15" name="PlaceHolder 9"/>
          <p:cNvSpPr>
            <a:spLocks noGrp="1"/>
          </p:cNvSpPr>
          <p:nvPr>
            <p:ph type="title"/>
          </p:nvPr>
        </p:nvSpPr>
        <p:spPr>
          <a:xfrm>
            <a:off x="0" y="0"/>
            <a:ext cx="6476760" cy="837720"/>
          </a:xfrm>
          <a:prstGeom prst="rect">
            <a:avLst/>
          </a:prstGeom>
        </p:spPr>
        <p:txBody>
          <a:bodyPr anchor="ctr">
            <a:noAutofit/>
          </a:bodyPr>
          <a:lstStyle/>
          <a:p>
            <a:pPr algn="ctr">
              <a:lnSpc>
                <a:spcPct val="100000"/>
              </a:lnSpc>
            </a:pPr>
            <a:r>
              <a:rPr lang="en-US" sz="3000" b="0" strike="noStrike" spc="-1" dirty="0">
                <a:solidFill>
                  <a:srgbClr val="000000"/>
                </a:solidFill>
                <a:latin typeface="Calibri"/>
                <a:ea typeface="MS PGothic"/>
              </a:rPr>
              <a:t>Click to edit Master title style</a:t>
            </a:r>
            <a:endParaRPr lang="en-US" sz="3000" b="0" strike="noStrike" spc="-1" dirty="0">
              <a:solidFill>
                <a:srgbClr val="000000"/>
              </a:solidFill>
              <a:latin typeface="Arial"/>
            </a:endParaRPr>
          </a:p>
        </p:txBody>
      </p:sp>
      <p:sp>
        <p:nvSpPr>
          <p:cNvPr id="16" name="PlaceHolder 10"/>
          <p:cNvSpPr>
            <a:spLocks noGrp="1"/>
          </p:cNvSpPr>
          <p:nvPr>
            <p:ph type="body"/>
          </p:nvPr>
        </p:nvSpPr>
        <p:spPr>
          <a:xfrm>
            <a:off x="457200" y="1371600"/>
            <a:ext cx="8229240" cy="4525560"/>
          </a:xfrm>
          <a:prstGeom prst="rect">
            <a:avLst/>
          </a:prstGeom>
        </p:spPr>
        <p:txBody>
          <a:bodyPr>
            <a:noAutofit/>
          </a:bodyPr>
          <a:lstStyle/>
          <a:p>
            <a:pPr marL="343080" indent="-342720">
              <a:lnSpc>
                <a:spcPct val="100000"/>
              </a:lnSpc>
              <a:spcBef>
                <a:spcPts val="641"/>
              </a:spcBef>
              <a:buClr>
                <a:srgbClr val="000000"/>
              </a:buClr>
              <a:buFont typeface="Arial"/>
              <a:buChar char="•"/>
            </a:pPr>
            <a:r>
              <a:rPr lang="en-US" sz="3200" b="0" strike="noStrike" spc="-1" dirty="0">
                <a:solidFill>
                  <a:srgbClr val="000000"/>
                </a:solidFill>
                <a:latin typeface="Calibri"/>
                <a:ea typeface="MS PGothic"/>
              </a:rPr>
              <a:t>Click to edit Master text styles</a:t>
            </a:r>
            <a:endParaRPr lang="en-US" sz="3200" b="0" strike="noStrike" spc="-1" dirty="0">
              <a:solidFill>
                <a:srgbClr val="000000"/>
              </a:solidFill>
              <a:latin typeface="Calibri"/>
            </a:endParaRPr>
          </a:p>
          <a:p>
            <a:pPr marL="743040" lvl="1" indent="-285480">
              <a:lnSpc>
                <a:spcPct val="100000"/>
              </a:lnSpc>
              <a:spcBef>
                <a:spcPts val="561"/>
              </a:spcBef>
              <a:buClr>
                <a:srgbClr val="000000"/>
              </a:buClr>
              <a:buFont typeface="Arial"/>
              <a:buChar char="–"/>
            </a:pPr>
            <a:r>
              <a:rPr lang="en-US" sz="2800" b="0" strike="noStrike" spc="-1" dirty="0">
                <a:solidFill>
                  <a:srgbClr val="000000"/>
                </a:solidFill>
                <a:latin typeface="Calibri"/>
                <a:ea typeface="MS PGothic"/>
              </a:rPr>
              <a:t>Second level</a:t>
            </a:r>
            <a:endParaRPr lang="en-US" sz="2800" b="0" strike="noStrike" spc="-1" dirty="0">
              <a:solidFill>
                <a:srgbClr val="000000"/>
              </a:solidFill>
              <a:latin typeface="Calibri"/>
            </a:endParaRPr>
          </a:p>
          <a:p>
            <a:pPr marL="1143000" lvl="2" indent="-228240">
              <a:lnSpc>
                <a:spcPct val="100000"/>
              </a:lnSpc>
              <a:spcBef>
                <a:spcPts val="479"/>
              </a:spcBef>
              <a:buClr>
                <a:srgbClr val="000000"/>
              </a:buClr>
              <a:buFont typeface="Arial"/>
              <a:buChar char="•"/>
            </a:pPr>
            <a:r>
              <a:rPr lang="en-US" sz="2400" b="0" strike="noStrike" spc="-1" dirty="0">
                <a:solidFill>
                  <a:srgbClr val="000000"/>
                </a:solidFill>
                <a:latin typeface="Calibri"/>
                <a:ea typeface="MS PGothic"/>
              </a:rPr>
              <a:t>Third level</a:t>
            </a:r>
            <a:endParaRPr lang="en-US" sz="2400" b="0" strike="noStrike" spc="-1" dirty="0">
              <a:solidFill>
                <a:srgbClr val="000000"/>
              </a:solidFill>
              <a:latin typeface="Calibri"/>
            </a:endParaRPr>
          </a:p>
          <a:p>
            <a:pPr marL="1600200" lvl="3" indent="-228240">
              <a:lnSpc>
                <a:spcPct val="100000"/>
              </a:lnSpc>
              <a:spcBef>
                <a:spcPts val="400"/>
              </a:spcBef>
              <a:buClr>
                <a:srgbClr val="000000"/>
              </a:buClr>
              <a:buFont typeface="Arial"/>
              <a:buChar char="–"/>
            </a:pPr>
            <a:r>
              <a:rPr lang="en-US" sz="2000" b="0" strike="noStrike" spc="-1" dirty="0">
                <a:solidFill>
                  <a:srgbClr val="000000"/>
                </a:solidFill>
                <a:latin typeface="Calibri"/>
                <a:ea typeface="MS PGothic"/>
              </a:rPr>
              <a:t>Fourth level</a:t>
            </a:r>
            <a:endParaRPr lang="en-US" sz="2000" b="0" strike="noStrike" spc="-1" dirty="0">
              <a:solidFill>
                <a:srgbClr val="000000"/>
              </a:solidFill>
              <a:latin typeface="Calibri"/>
            </a:endParaRPr>
          </a:p>
          <a:p>
            <a:pPr marL="2057400" lvl="4" indent="-228240">
              <a:lnSpc>
                <a:spcPct val="100000"/>
              </a:lnSpc>
              <a:spcBef>
                <a:spcPts val="400"/>
              </a:spcBef>
              <a:buClr>
                <a:srgbClr val="000000"/>
              </a:buClr>
              <a:buFont typeface="Arial"/>
              <a:buChar char="»"/>
            </a:pPr>
            <a:r>
              <a:rPr lang="en-US" sz="2000" b="0" strike="noStrike" spc="-1" dirty="0">
                <a:solidFill>
                  <a:srgbClr val="000000"/>
                </a:solidFill>
                <a:latin typeface="Calibri"/>
                <a:ea typeface="MS PGothic"/>
              </a:rPr>
              <a:t>Fifth level</a:t>
            </a:r>
            <a:endParaRPr lang="en-US" sz="2000" b="0" strike="noStrike" spc="-1" dirty="0">
              <a:solidFill>
                <a:srgbClr val="000000"/>
              </a:solidFill>
              <a:latin typeface="Calibri"/>
            </a:endParaRPr>
          </a:p>
        </p:txBody>
      </p:sp>
      <p:sp>
        <p:nvSpPr>
          <p:cNvPr id="17" name="PlaceHolder 11"/>
          <p:cNvSpPr>
            <a:spLocks noGrp="1"/>
          </p:cNvSpPr>
          <p:nvPr>
            <p:ph type="dt"/>
          </p:nvPr>
        </p:nvSpPr>
        <p:spPr>
          <a:xfrm>
            <a:off x="457200" y="6356520"/>
            <a:ext cx="2133360" cy="364680"/>
          </a:xfrm>
          <a:prstGeom prst="rect">
            <a:avLst/>
          </a:prstGeom>
        </p:spPr>
        <p:txBody>
          <a:bodyPr anchor="ctr">
            <a:noAutofit/>
          </a:bodyPr>
          <a:lstStyle/>
          <a:p>
            <a:pPr>
              <a:lnSpc>
                <a:spcPct val="100000"/>
              </a:lnSpc>
            </a:pPr>
            <a:endParaRPr lang="en-GB" sz="1200" b="0" strike="noStrike" spc="-1">
              <a:latin typeface="Times New Roman"/>
            </a:endParaRPr>
          </a:p>
        </p:txBody>
      </p:sp>
      <p:sp>
        <p:nvSpPr>
          <p:cNvPr id="18" name="PlaceHolder 12"/>
          <p:cNvSpPr>
            <a:spLocks noGrp="1"/>
          </p:cNvSpPr>
          <p:nvPr>
            <p:ph type="ftr"/>
          </p:nvPr>
        </p:nvSpPr>
        <p:spPr>
          <a:xfrm>
            <a:off x="3124080" y="6356520"/>
            <a:ext cx="2895120" cy="364680"/>
          </a:xfrm>
          <a:prstGeom prst="rect">
            <a:avLst/>
          </a:prstGeom>
        </p:spPr>
        <p:txBody>
          <a:bodyPr anchor="ctr">
            <a:noAutofit/>
          </a:bodyPr>
          <a:lstStyle/>
          <a:p>
            <a:r>
              <a:rPr lang="en-GB" sz="2400" b="0" strike="noStrike" spc="-1">
                <a:latin typeface="Times New Roman"/>
              </a:rPr>
              <a:t>Name</a:t>
            </a:r>
          </a:p>
        </p:txBody>
      </p:sp>
      <p:sp>
        <p:nvSpPr>
          <p:cNvPr id="19" name="PlaceHolder 13"/>
          <p:cNvSpPr>
            <a:spLocks noGrp="1"/>
          </p:cNvSpPr>
          <p:nvPr>
            <p:ph type="sldNum"/>
          </p:nvPr>
        </p:nvSpPr>
        <p:spPr>
          <a:xfrm>
            <a:off x="6553080" y="6356520"/>
            <a:ext cx="2133360" cy="364680"/>
          </a:xfrm>
          <a:prstGeom prst="rect">
            <a:avLst/>
          </a:prstGeom>
        </p:spPr>
        <p:txBody>
          <a:bodyPr anchor="ctr">
            <a:noAutofit/>
          </a:bodyPr>
          <a:lstStyle/>
          <a:p>
            <a:pPr algn="r">
              <a:lnSpc>
                <a:spcPct val="100000"/>
              </a:lnSpc>
            </a:pPr>
            <a:fld id="{1CFDC92E-FF5D-4613-8499-B15BC16E50D9}" type="slidenum">
              <a:rPr lang="en-US" sz="1200" b="0" strike="noStrike" spc="-1">
                <a:solidFill>
                  <a:srgbClr val="898989"/>
                </a:solidFill>
                <a:latin typeface="Calibri"/>
                <a:ea typeface="MS PGothic"/>
              </a:rPr>
              <a:pPr algn="r">
                <a:lnSpc>
                  <a:spcPct val="100000"/>
                </a:lnSpc>
              </a:pPr>
              <a:t>‹#›</a:t>
            </a:fld>
            <a:endParaRPr lang="en-GB" sz="1200" b="0" strike="noStrike" spc="-1">
              <a:latin typeface="Times New Roman"/>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Shape 1"/>
          <p:cNvSpPr txBox="1"/>
          <p:nvPr/>
        </p:nvSpPr>
        <p:spPr>
          <a:xfrm>
            <a:off x="0" y="840631"/>
            <a:ext cx="9144000" cy="5377289"/>
          </a:xfrm>
          <a:prstGeom prst="rect">
            <a:avLst/>
          </a:prstGeom>
          <a:noFill/>
          <a:ln w="9360">
            <a:noFill/>
          </a:ln>
        </p:spPr>
        <p:txBody>
          <a:bodyPr>
            <a:noAutofit/>
          </a:bodyPr>
          <a:lstStyle/>
          <a:p>
            <a:pPr algn="ctr">
              <a:lnSpc>
                <a:spcPct val="100000"/>
              </a:lnSpc>
              <a:spcBef>
                <a:spcPts val="400"/>
              </a:spcBef>
            </a:pPr>
            <a:r>
              <a:rPr lang="en-IN" sz="2000" dirty="0">
                <a:latin typeface="Times New Roman" panose="02020603050405020304" pitchFamily="18" charset="0"/>
                <a:ea typeface="Calibri" panose="020F0502020204030204" pitchFamily="34" charset="0"/>
                <a:cs typeface="Times New Roman" panose="02020603050405020304" pitchFamily="18" charset="0"/>
              </a:rPr>
              <a:t>Project Presentation of Industry Oriented Hands on Experience (22CS422</a:t>
            </a:r>
            <a:r>
              <a:rPr lang="en-IN" b="1" dirty="0">
                <a:latin typeface="Times New Roman" panose="02020603050405020304" pitchFamily="18" charset="0"/>
                <a:ea typeface="Calibri" panose="020F0502020204030204" pitchFamily="34" charset="0"/>
                <a:cs typeface="Times New Roman" panose="02020603050405020304" pitchFamily="18" charset="0"/>
              </a:rPr>
              <a:t>)</a:t>
            </a:r>
          </a:p>
          <a:p>
            <a:pPr algn="ctr">
              <a:lnSpc>
                <a:spcPct val="100000"/>
              </a:lnSpc>
              <a:spcBef>
                <a:spcPts val="400"/>
              </a:spcBef>
            </a:pPr>
            <a:r>
              <a:rPr lang="en-US" sz="2000" spc="-1" dirty="0">
                <a:latin typeface="Times New Roman" panose="02020603050405020304" pitchFamily="18" charset="0"/>
                <a:ea typeface="Calibri" panose="020F0502020204030204" pitchFamily="34" charset="0"/>
                <a:cs typeface="Times New Roman" panose="02020603050405020304" pitchFamily="18" charset="0"/>
              </a:rPr>
              <a:t>On</a:t>
            </a:r>
          </a:p>
          <a:p>
            <a:pPr algn="ctr">
              <a:lnSpc>
                <a:spcPct val="100000"/>
              </a:lnSpc>
              <a:spcBef>
                <a:spcPts val="400"/>
              </a:spcBef>
            </a:pPr>
            <a:r>
              <a:rPr lang="en-US" sz="2500" dirty="0"/>
              <a:t>An Efficient Deep Learning Approach for Bean Leaf Disease Recognition with ResNet152V2</a:t>
            </a:r>
            <a:endParaRPr lang="en-US" sz="2000" i="1" spc="-1" dirty="0">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00000"/>
              </a:lnSpc>
              <a:spcBef>
                <a:spcPts val="400"/>
              </a:spcBef>
            </a:pPr>
            <a:br>
              <a:rPr lang="en-US" sz="2000" b="0" strike="noStrike" spc="-1" dirty="0">
                <a:solidFill>
                  <a:srgbClr val="000000"/>
                </a:solidFill>
                <a:latin typeface="Times New Roman" panose="02020603050405020304" pitchFamily="18" charset="0"/>
                <a:ea typeface="MS PGothic"/>
                <a:cs typeface="Times New Roman" panose="02020603050405020304" pitchFamily="18" charset="0"/>
              </a:rPr>
            </a:br>
            <a:r>
              <a:rPr lang="en-US" sz="2400" b="0" strike="noStrike" spc="-1" dirty="0">
                <a:solidFill>
                  <a:srgbClr val="000000"/>
                </a:solidFill>
                <a:latin typeface="Times New Roman" panose="02020603050405020304" pitchFamily="18" charset="0"/>
                <a:ea typeface="MS PGothic"/>
                <a:cs typeface="Times New Roman" panose="02020603050405020304" pitchFamily="18" charset="0"/>
              </a:rPr>
              <a:t>Prianshu Kumar , Rajat Saini , Rohit </a:t>
            </a:r>
            <a:endParaRPr lang="en-US" sz="2400" spc="-1" dirty="0">
              <a:solidFill>
                <a:srgbClr val="000000"/>
              </a:solidFill>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400" spc="-1" dirty="0">
                <a:solidFill>
                  <a:srgbClr val="000000"/>
                </a:solidFill>
                <a:latin typeface="Times New Roman" panose="02020603050405020304" pitchFamily="18" charset="0"/>
                <a:ea typeface="MS PGothic"/>
                <a:cs typeface="Times New Roman" panose="02020603050405020304" pitchFamily="18" charset="0"/>
              </a:rPr>
              <a:t>2210990681 , 2210990706 , 2210990742</a:t>
            </a:r>
          </a:p>
          <a:p>
            <a:pPr algn="ctr">
              <a:lnSpc>
                <a:spcPct val="100000"/>
              </a:lnSpc>
              <a:spcBef>
                <a:spcPts val="400"/>
              </a:spcBef>
            </a:pPr>
            <a:endParaRPr lang="en-US" sz="2400" b="0" strike="noStrike" spc="-1" dirty="0">
              <a:solidFill>
                <a:srgbClr val="000000"/>
              </a:solidFill>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400" spc="-1" dirty="0">
                <a:solidFill>
                  <a:srgbClr val="000000"/>
                </a:solidFill>
                <a:latin typeface="Times New Roman" panose="02020603050405020304" pitchFamily="18" charset="0"/>
                <a:ea typeface="MS PGothic"/>
                <a:cs typeface="Times New Roman" panose="02020603050405020304" pitchFamily="18" charset="0"/>
              </a:rPr>
              <a:t>Supervised By:- </a:t>
            </a:r>
          </a:p>
          <a:p>
            <a:pPr algn="ctr">
              <a:lnSpc>
                <a:spcPct val="100000"/>
              </a:lnSpc>
              <a:spcBef>
                <a:spcPts val="400"/>
              </a:spcBef>
            </a:pPr>
            <a:r>
              <a:rPr lang="en-US" sz="2400" spc="-1" dirty="0">
                <a:solidFill>
                  <a:srgbClr val="000000"/>
                </a:solidFill>
                <a:latin typeface="Times New Roman" panose="02020603050405020304" pitchFamily="18" charset="0"/>
                <a:ea typeface="MS PGothic"/>
                <a:cs typeface="Times New Roman" panose="02020603050405020304" pitchFamily="18" charset="0"/>
              </a:rPr>
              <a:t>Mrs. Monika</a:t>
            </a:r>
            <a:endParaRPr lang="en-US" sz="2400" b="0" strike="noStrike" spc="-1" dirty="0">
              <a:solidFill>
                <a:srgbClr val="000000"/>
              </a:solidFill>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endParaRPr lang="en-US" sz="2000"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endParaRPr lang="en-US" sz="2000"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400" spc="-1" dirty="0">
                <a:latin typeface="Times New Roman" panose="02020603050405020304" pitchFamily="18" charset="0"/>
                <a:ea typeface="MS PGothic"/>
                <a:cs typeface="Times New Roman" panose="02020603050405020304" pitchFamily="18" charset="0"/>
              </a:rPr>
              <a:t>Department of </a:t>
            </a:r>
            <a:r>
              <a:rPr lang="en-US" sz="2400" b="0" strike="noStrike" spc="-1" dirty="0">
                <a:latin typeface="Times New Roman" panose="02020603050405020304" pitchFamily="18" charset="0"/>
                <a:ea typeface="MS PGothic"/>
                <a:cs typeface="Times New Roman" panose="02020603050405020304" pitchFamily="18" charset="0"/>
              </a:rPr>
              <a:t>Computer Science and Engineering, </a:t>
            </a:r>
          </a:p>
          <a:p>
            <a:pPr algn="ctr">
              <a:lnSpc>
                <a:spcPct val="100000"/>
              </a:lnSpc>
              <a:spcBef>
                <a:spcPts val="400"/>
              </a:spcBef>
            </a:pPr>
            <a:r>
              <a:rPr lang="en-US" sz="2400" b="0" strike="noStrike" spc="-1" dirty="0">
                <a:latin typeface="Times New Roman" panose="02020603050405020304" pitchFamily="18" charset="0"/>
                <a:ea typeface="MS PGothic"/>
                <a:cs typeface="Times New Roman" panose="02020603050405020304" pitchFamily="18" charset="0"/>
              </a:rPr>
              <a:t>Chitkara University, Punjab</a:t>
            </a:r>
          </a:p>
          <a:p>
            <a:pPr algn="ctr">
              <a:lnSpc>
                <a:spcPct val="150000"/>
              </a:lnSpc>
              <a:spcBef>
                <a:spcPts val="400"/>
              </a:spcBef>
            </a:pPr>
            <a:endParaRPr lang="en-US" sz="2000" b="0" strike="noStrike" spc="-1" dirty="0">
              <a:solidFill>
                <a:srgbClr val="000000"/>
              </a:solidFill>
              <a:latin typeface="Calibri"/>
            </a:endParaRPr>
          </a:p>
          <a:p>
            <a:pPr>
              <a:lnSpc>
                <a:spcPct val="100000"/>
              </a:lnSpc>
              <a:spcBef>
                <a:spcPts val="641"/>
              </a:spcBef>
            </a:pPr>
            <a:endParaRPr lang="en-US" sz="2000" b="0" strike="noStrike" spc="-1" dirty="0">
              <a:solidFill>
                <a:srgbClr val="000000"/>
              </a:solidFill>
              <a:latin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445168" y="0"/>
            <a:ext cx="6019560" cy="837720"/>
          </a:xfrm>
          <a:prstGeom prst="rect">
            <a:avLst/>
          </a:prstGeom>
          <a:noFill/>
          <a:ln w="9360">
            <a:noFill/>
          </a:ln>
        </p:spPr>
        <p:txBody>
          <a:bodyPr anchor="ctr">
            <a:noAutofit/>
          </a:bodyPr>
          <a:lstStyle/>
          <a:p>
            <a:pPr algn="ctr">
              <a:lnSpc>
                <a:spcPct val="100000"/>
              </a:lnSpc>
            </a:pPr>
            <a:r>
              <a:rPr lang="en" sz="3200" dirty="0">
                <a:latin typeface="Times New Roman" panose="02020603050405020304" pitchFamily="18" charset="0"/>
                <a:cs typeface="Times New Roman" panose="02020603050405020304" pitchFamily="18" charset="0"/>
              </a:rPr>
              <a:t>Introduction</a:t>
            </a:r>
            <a:endParaRPr lang="en-US" sz="3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41048"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2</a:t>
            </a:fld>
            <a:endParaRPr lang="en-GB" sz="1200" b="0" strike="noStrike" spc="-1">
              <a:latin typeface="Times New Roman"/>
            </a:endParaRPr>
          </a:p>
        </p:txBody>
      </p:sp>
      <p:sp>
        <p:nvSpPr>
          <p:cNvPr id="5" name="TextShape 2"/>
          <p:cNvSpPr txBox="1"/>
          <p:nvPr/>
        </p:nvSpPr>
        <p:spPr>
          <a:xfrm>
            <a:off x="152640" y="418860"/>
            <a:ext cx="8838720" cy="4388690"/>
          </a:xfrm>
          <a:prstGeom prst="rect">
            <a:avLst/>
          </a:prstGeom>
          <a:noFill/>
          <a:ln w="9360">
            <a:noFill/>
          </a:ln>
        </p:spPr>
        <p:txBody>
          <a:bodyPr>
            <a:noAutofit/>
          </a:bodyPr>
          <a:lstStyle/>
          <a:p>
            <a:pPr algn="just">
              <a:lnSpc>
                <a:spcPct val="150000"/>
              </a:lnSpc>
              <a:spcBef>
                <a:spcPts val="400"/>
              </a:spcBef>
            </a:pPr>
            <a:endParaRPr lang="en-US" sz="2100" b="0" strike="noStrike" spc="-1" dirty="0">
              <a:solidFill>
                <a:srgbClr val="000000"/>
              </a:solidFill>
              <a:latin typeface="Times New Roman" panose="02020603050405020304" pitchFamily="18" charset="0"/>
              <a:cs typeface="Times New Roman" panose="02020603050405020304" pitchFamily="18" charset="0"/>
            </a:endParaRPr>
          </a:p>
          <a:p>
            <a:pPr algn="just"/>
            <a:endParaRPr lang="en-US" sz="2100" b="1" dirty="0">
              <a:latin typeface="Times New Roman" panose="02020603050405020304" pitchFamily="18" charset="0"/>
              <a:cs typeface="Times New Roman" panose="02020603050405020304" pitchFamily="18" charset="0"/>
            </a:endParaRPr>
          </a:p>
          <a:p>
            <a:pPr algn="just"/>
            <a:r>
              <a:rPr lang="en-US" sz="2400" b="1" dirty="0">
                <a:latin typeface="Times New Roman" panose="02020603050405020304" pitchFamily="18" charset="0"/>
                <a:cs typeface="Times New Roman" panose="02020603050405020304" pitchFamily="18" charset="0"/>
              </a:rPr>
              <a:t>Overview:-</a:t>
            </a:r>
          </a:p>
          <a:p>
            <a:pPr algn="just"/>
            <a:endParaRPr lang="en-US" sz="2100" b="1" dirty="0">
              <a:latin typeface="Times New Roman" panose="02020603050405020304" pitchFamily="18" charset="0"/>
              <a:cs typeface="Times New Roman" panose="02020603050405020304" pitchFamily="18" charset="0"/>
            </a:endParaRPr>
          </a:p>
          <a:p>
            <a:pPr algn="just"/>
            <a:r>
              <a:rPr lang="en-US" sz="2300" dirty="0">
                <a:latin typeface="Times New Roman" panose="02020603050405020304" pitchFamily="18" charset="0"/>
                <a:cs typeface="Times New Roman" panose="02020603050405020304" pitchFamily="18" charset="0"/>
              </a:rPr>
              <a:t>Bean leaf diseases are a major problem in agriculture because they reduce crop quality and production. Diseases such as Angular Leaf Spot and Bean Rust can spread quickly and damage large numbers of crops if not detected early.</a:t>
            </a:r>
          </a:p>
          <a:p>
            <a:pPr algn="just"/>
            <a:endParaRPr lang="en-US" sz="2300" dirty="0">
              <a:latin typeface="Times New Roman" panose="02020603050405020304" pitchFamily="18" charset="0"/>
              <a:cs typeface="Times New Roman" panose="02020603050405020304" pitchFamily="18" charset="0"/>
            </a:endParaRPr>
          </a:p>
          <a:p>
            <a:pPr algn="just"/>
            <a:r>
              <a:rPr lang="en-US" sz="2300" dirty="0">
                <a:latin typeface="Times New Roman" panose="02020603050405020304" pitchFamily="18" charset="0"/>
                <a:cs typeface="Times New Roman" panose="02020603050405020304" pitchFamily="18" charset="0"/>
              </a:rPr>
              <a:t>Traditional disease detection methods depend on manual inspection by experts, which is time-consuming and less efficient for large farms.</a:t>
            </a:r>
          </a:p>
          <a:p>
            <a:pPr algn="just"/>
            <a:endParaRPr lang="en-US" sz="2300" dirty="0">
              <a:latin typeface="Times New Roman" panose="02020603050405020304" pitchFamily="18" charset="0"/>
              <a:cs typeface="Times New Roman" panose="02020603050405020304" pitchFamily="18" charset="0"/>
            </a:endParaRPr>
          </a:p>
          <a:p>
            <a:pPr algn="just"/>
            <a:r>
              <a:rPr lang="en-US" sz="2300" dirty="0">
                <a:latin typeface="Times New Roman" panose="02020603050405020304" pitchFamily="18" charset="0"/>
                <a:cs typeface="Times New Roman" panose="02020603050405020304" pitchFamily="18" charset="0"/>
              </a:rPr>
              <a:t>To solve this problem, our project uses Deep Learning and Computer Vision techniques for automatic disease recognition using images of bean leaves.</a:t>
            </a:r>
          </a:p>
          <a:p>
            <a:pPr marL="139700" lvl="0" algn="just">
              <a:buClr>
                <a:srgbClr val="000000"/>
              </a:buClr>
              <a:buSzPts val="1400"/>
            </a:pPr>
            <a:endParaRPr lang="en-US" sz="2300" dirty="0">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00000"/>
              </a:lnSpc>
              <a:spcBef>
                <a:spcPts val="400"/>
              </a:spcBef>
            </a:pPr>
            <a:endParaRPr lang="en-US" sz="2100" b="0" strike="noStrike" spc="-1" dirty="0">
              <a:solidFill>
                <a:srgbClr val="000000"/>
              </a:solidFill>
              <a:latin typeface="Times New Roman" panose="02020603050405020304" pitchFamily="18" charset="0"/>
              <a:cs typeface="Times New Roman" panose="02020603050405020304" pitchFamily="18" charset="0"/>
            </a:endParaRPr>
          </a:p>
          <a:p>
            <a:pPr algn="just">
              <a:lnSpc>
                <a:spcPct val="100000"/>
              </a:lnSpc>
              <a:spcBef>
                <a:spcPts val="400"/>
              </a:spcBef>
            </a:pPr>
            <a:endParaRPr lang="en-US" sz="2100" spc="-1" dirty="0">
              <a:solidFill>
                <a:srgbClr val="000000"/>
              </a:solidFill>
              <a:latin typeface="Times New Roman" panose="02020603050405020304" pitchFamily="18" charset="0"/>
              <a:cs typeface="Times New Roman" panose="02020603050405020304" pitchFamily="18" charset="0"/>
            </a:endParaRPr>
          </a:p>
          <a:p>
            <a:pPr algn="just">
              <a:lnSpc>
                <a:spcPct val="150000"/>
              </a:lnSpc>
              <a:spcBef>
                <a:spcPts val="400"/>
              </a:spcBef>
            </a:pPr>
            <a:endParaRPr lang="en-US" sz="2100" b="0" strike="noStrike" spc="-1" dirty="0">
              <a:solidFill>
                <a:srgbClr val="000000"/>
              </a:solidFill>
              <a:latin typeface="Times New Roman" panose="02020603050405020304" pitchFamily="18" charset="0"/>
              <a:cs typeface="Times New Roman" panose="02020603050405020304" pitchFamily="18" charset="0"/>
            </a:endParaRPr>
          </a:p>
          <a:p>
            <a:pPr algn="just">
              <a:lnSpc>
                <a:spcPct val="150000"/>
              </a:lnSpc>
              <a:spcBef>
                <a:spcPts val="400"/>
              </a:spcBef>
            </a:pPr>
            <a:endParaRPr lang="en-US" sz="2100" b="0" strike="noStrike" spc="-1" dirty="0">
              <a:solidFill>
                <a:srgbClr val="000000"/>
              </a:solidFill>
              <a:latin typeface="Times New Roman" panose="02020603050405020304" pitchFamily="18" charset="0"/>
              <a:cs typeface="Times New Roman" panose="02020603050405020304" pitchFamily="18" charset="0"/>
            </a:endParaRPr>
          </a:p>
          <a:p>
            <a:pPr algn="just">
              <a:lnSpc>
                <a:spcPct val="150000"/>
              </a:lnSpc>
              <a:spcBef>
                <a:spcPts val="400"/>
              </a:spcBef>
            </a:pPr>
            <a:endParaRPr lang="en-US" sz="2100" b="0" strike="noStrike" spc="-1" dirty="0">
              <a:solidFill>
                <a:srgbClr val="000000"/>
              </a:solidFill>
              <a:latin typeface="Times New Roman" panose="02020603050405020304" pitchFamily="18" charset="0"/>
              <a:cs typeface="Times New Roman" panose="02020603050405020304" pitchFamily="18" charset="0"/>
            </a:endParaRPr>
          </a:p>
          <a:p>
            <a:pPr algn="just">
              <a:lnSpc>
                <a:spcPct val="150000"/>
              </a:lnSpc>
              <a:spcBef>
                <a:spcPts val="400"/>
              </a:spcBef>
            </a:pPr>
            <a:endParaRPr lang="en-US" sz="2100" b="0" strike="noStrike" spc="-1" dirty="0">
              <a:solidFill>
                <a:srgbClr val="000000"/>
              </a:solidFill>
              <a:latin typeface="Times New Roman" panose="02020603050405020304" pitchFamily="18" charset="0"/>
              <a:cs typeface="Times New Roman" panose="02020603050405020304" pitchFamily="18" charset="0"/>
            </a:endParaRPr>
          </a:p>
          <a:p>
            <a:pPr algn="just">
              <a:lnSpc>
                <a:spcPct val="100000"/>
              </a:lnSpc>
              <a:spcBef>
                <a:spcPts val="400"/>
              </a:spcBef>
            </a:pPr>
            <a:endParaRPr lang="en-US" sz="2100" b="0" strike="noStrike" spc="-1" dirty="0">
              <a:solidFill>
                <a:srgbClr val="000000"/>
              </a:solidFill>
              <a:latin typeface="Times New Roman" panose="02020603050405020304" pitchFamily="18" charset="0"/>
              <a:cs typeface="Times New Roman" panose="02020603050405020304" pitchFamily="18" charset="0"/>
            </a:endParaRPr>
          </a:p>
          <a:p>
            <a:pPr algn="just">
              <a:lnSpc>
                <a:spcPct val="100000"/>
              </a:lnSpc>
              <a:spcBef>
                <a:spcPts val="400"/>
              </a:spcBef>
            </a:pPr>
            <a:endParaRPr lang="en-US" sz="2100" b="0" strike="noStrike" spc="-1" dirty="0">
              <a:solidFill>
                <a:srgbClr val="000000"/>
              </a:solidFill>
              <a:latin typeface="Times New Roman" panose="02020603050405020304" pitchFamily="18" charset="0"/>
              <a:cs typeface="Times New Roman" panose="02020603050405020304" pitchFamily="18" charset="0"/>
            </a:endParaRPr>
          </a:p>
          <a:p>
            <a:pPr algn="just">
              <a:lnSpc>
                <a:spcPct val="100000"/>
              </a:lnSpc>
              <a:spcBef>
                <a:spcPts val="400"/>
              </a:spcBef>
            </a:pPr>
            <a:endParaRPr lang="en-US" sz="2100" b="0" strike="noStrike" spc="-1" dirty="0">
              <a:solidFill>
                <a:srgbClr val="000000"/>
              </a:solidFill>
              <a:latin typeface="Times New Roman" panose="02020603050405020304" pitchFamily="18" charset="0"/>
              <a:cs typeface="Times New Roman" panose="02020603050405020304" pitchFamily="18" charset="0"/>
            </a:endParaRPr>
          </a:p>
          <a:p>
            <a:pPr algn="just">
              <a:lnSpc>
                <a:spcPct val="100000"/>
              </a:lnSpc>
              <a:spcBef>
                <a:spcPts val="400"/>
              </a:spcBef>
            </a:pPr>
            <a:endParaRPr lang="en-US" sz="2100" b="0" strike="noStrike" spc="-1" dirty="0">
              <a:solidFill>
                <a:srgbClr val="000000"/>
              </a:solidFill>
              <a:latin typeface="Times New Roman" panose="02020603050405020304" pitchFamily="18" charset="0"/>
              <a:cs typeface="Times New Roman" panose="02020603050405020304" pitchFamily="18" charset="0"/>
            </a:endParaRPr>
          </a:p>
          <a:p>
            <a:pPr algn="just">
              <a:lnSpc>
                <a:spcPct val="100000"/>
              </a:lnSpc>
              <a:spcBef>
                <a:spcPts val="400"/>
              </a:spcBef>
            </a:pPr>
            <a:endParaRPr lang="en-US" sz="2100" b="0" strike="noStrike" spc="-1" dirty="0">
              <a:solidFill>
                <a:srgbClr val="00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64174F-08E6-0D15-E8A0-005153A3DB6D}"/>
              </a:ext>
            </a:extLst>
          </p:cNvPr>
          <p:cNvSpPr>
            <a:spLocks noGrp="1"/>
          </p:cNvSpPr>
          <p:nvPr>
            <p:ph type="title"/>
          </p:nvPr>
        </p:nvSpPr>
        <p:spPr/>
        <p:txBody>
          <a:bodyPr/>
          <a:lstStyle/>
          <a:p>
            <a:pPr algn="ctr"/>
            <a:r>
              <a:rPr lang="en-IN" sz="3200" dirty="0">
                <a:latin typeface="Times New Roman" panose="02020603050405020304" pitchFamily="18" charset="0"/>
                <a:cs typeface="Times New Roman" panose="02020603050405020304" pitchFamily="18" charset="0"/>
              </a:rPr>
              <a:t>Problem Statement</a:t>
            </a:r>
          </a:p>
        </p:txBody>
      </p:sp>
      <p:sp>
        <p:nvSpPr>
          <p:cNvPr id="3" name="Subtitle 2">
            <a:extLst>
              <a:ext uri="{FF2B5EF4-FFF2-40B4-BE49-F238E27FC236}">
                <a16:creationId xmlns:a16="http://schemas.microsoft.com/office/drawing/2014/main" id="{37CF0D78-3145-119C-2845-30A9362D918B}"/>
              </a:ext>
            </a:extLst>
          </p:cNvPr>
          <p:cNvSpPr>
            <a:spLocks noGrp="1"/>
          </p:cNvSpPr>
          <p:nvPr>
            <p:ph type="subTitle"/>
          </p:nvPr>
        </p:nvSpPr>
        <p:spPr>
          <a:xfrm>
            <a:off x="108284" y="1118757"/>
            <a:ext cx="8939463" cy="5282043"/>
          </a:xfrm>
        </p:spPr>
        <p:txBody>
          <a:bodyPr/>
          <a:lstStyle/>
          <a:p>
            <a:pPr marL="0" indent="0" algn="just">
              <a:buNone/>
            </a:pPr>
            <a:r>
              <a:rPr lang="en-US" sz="2100" dirty="0"/>
              <a:t>Bean leaf diseases such as Angular Leaf Spot and Bean Rust reduce crop quality and productivity. Early disease detection is important to prevent crop damage and financial loss.</a:t>
            </a:r>
          </a:p>
          <a:p>
            <a:pPr marL="0" indent="0" algn="just">
              <a:buNone/>
            </a:pPr>
            <a:r>
              <a:rPr lang="en-US" sz="2100" dirty="0"/>
              <a:t>Traditional detection methods depend on manual inspection, which is time-consuming and may lead to inaccurate results.</a:t>
            </a:r>
          </a:p>
          <a:p>
            <a:pPr marL="0" indent="0" algn="just">
              <a:buNone/>
            </a:pPr>
            <a:r>
              <a:rPr lang="en-US" sz="2100" b="1" dirty="0"/>
              <a:t>Problems Identified:-</a:t>
            </a:r>
          </a:p>
          <a:p>
            <a:pPr algn="just"/>
            <a:r>
              <a:rPr lang="en-US" sz="2100" dirty="0"/>
              <a:t>Difficult to detect diseases at an early stage </a:t>
            </a:r>
          </a:p>
          <a:p>
            <a:pPr algn="just"/>
            <a:r>
              <a:rPr lang="en-US" sz="2100" dirty="0"/>
              <a:t>Manual inspection requires experts </a:t>
            </a:r>
          </a:p>
          <a:p>
            <a:pPr algn="just"/>
            <a:r>
              <a:rPr lang="en-US" sz="2100" dirty="0"/>
              <a:t>Human errors may occur </a:t>
            </a:r>
          </a:p>
          <a:p>
            <a:pPr algn="just"/>
            <a:r>
              <a:rPr lang="en-US" sz="2100" dirty="0"/>
              <a:t>Large-scale monitoring is difficult</a:t>
            </a:r>
          </a:p>
          <a:p>
            <a:pPr marL="0" indent="0" algn="just">
              <a:buNone/>
            </a:pPr>
            <a:endParaRPr lang="en-IN" sz="21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592274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12FA760-0360-06F4-B8EE-31739F6127BF}"/>
              </a:ext>
            </a:extLst>
          </p:cNvPr>
          <p:cNvSpPr>
            <a:spLocks noGrp="1"/>
          </p:cNvSpPr>
          <p:nvPr>
            <p:ph type="title"/>
          </p:nvPr>
        </p:nvSpPr>
        <p:spPr/>
        <p:txBody>
          <a:bodyPr/>
          <a:lstStyle/>
          <a:p>
            <a:pPr algn="ctr"/>
            <a:r>
              <a:rPr lang="en-IN" sz="3200" dirty="0">
                <a:latin typeface="Times New Roman" panose="02020603050405020304" pitchFamily="18" charset="0"/>
                <a:cs typeface="Times New Roman" panose="02020603050405020304" pitchFamily="18" charset="0"/>
              </a:rPr>
              <a:t>Proposed Solution</a:t>
            </a:r>
          </a:p>
        </p:txBody>
      </p:sp>
      <p:sp>
        <p:nvSpPr>
          <p:cNvPr id="10" name="Subtitle 9">
            <a:extLst>
              <a:ext uri="{FF2B5EF4-FFF2-40B4-BE49-F238E27FC236}">
                <a16:creationId xmlns:a16="http://schemas.microsoft.com/office/drawing/2014/main" id="{BA636CE0-1B00-F566-E010-95DAAB0D6FD3}"/>
              </a:ext>
            </a:extLst>
          </p:cNvPr>
          <p:cNvSpPr txBox="1">
            <a:spLocks noGrp="1"/>
          </p:cNvSpPr>
          <p:nvPr>
            <p:ph type="subTitle"/>
          </p:nvPr>
        </p:nvSpPr>
        <p:spPr>
          <a:xfrm>
            <a:off x="240631" y="1356659"/>
            <a:ext cx="8662737" cy="5063437"/>
          </a:xfrm>
          <a:prstGeom prst="rect">
            <a:avLst/>
          </a:prstGeom>
          <a:noFill/>
        </p:spPr>
        <p:txBody>
          <a:bodyPr wrap="square">
            <a:spAutoFit/>
          </a:bodyPr>
          <a:lstStyle/>
          <a:p>
            <a:pPr algn="just">
              <a:buNone/>
            </a:pPr>
            <a:r>
              <a:rPr lang="en-US" sz="2100" dirty="0">
                <a:latin typeface="Times New Roman" panose="02020603050405020304" pitchFamily="18" charset="0"/>
                <a:cs typeface="Times New Roman" panose="02020603050405020304" pitchFamily="18" charset="0"/>
              </a:rPr>
              <a:t>We developed an AI-based bean leaf disease detection system using the </a:t>
            </a:r>
            <a:r>
              <a:rPr lang="en-US" sz="2100" b="1" dirty="0">
                <a:latin typeface="Times New Roman" panose="02020603050405020304" pitchFamily="18" charset="0"/>
                <a:cs typeface="Times New Roman" panose="02020603050405020304" pitchFamily="18" charset="0"/>
              </a:rPr>
              <a:t>ResNet152V2 deep learning model</a:t>
            </a:r>
            <a:r>
              <a:rPr lang="en-US" sz="2100" dirty="0">
                <a:latin typeface="Times New Roman" panose="02020603050405020304" pitchFamily="18" charset="0"/>
                <a:cs typeface="Times New Roman" panose="02020603050405020304" pitchFamily="18" charset="0"/>
              </a:rPr>
              <a:t>.</a:t>
            </a:r>
          </a:p>
          <a:p>
            <a:pPr algn="just">
              <a:buNone/>
            </a:pPr>
            <a:r>
              <a:rPr lang="en-US" sz="2100" dirty="0">
                <a:latin typeface="Times New Roman" panose="02020603050405020304" pitchFamily="18" charset="0"/>
                <a:cs typeface="Times New Roman" panose="02020603050405020304" pitchFamily="18" charset="0"/>
              </a:rPr>
              <a:t>The system analyzes leaf images and classifies them into:</a:t>
            </a:r>
          </a:p>
          <a:p>
            <a:pPr algn="just">
              <a:buFont typeface="Arial" panose="020B0604020202020204" pitchFamily="34" charset="0"/>
              <a:buChar char="•"/>
            </a:pPr>
            <a:r>
              <a:rPr lang="en-US" sz="2100" dirty="0">
                <a:latin typeface="Times New Roman" panose="02020603050405020304" pitchFamily="18" charset="0"/>
                <a:cs typeface="Times New Roman" panose="02020603050405020304" pitchFamily="18" charset="0"/>
              </a:rPr>
              <a:t>Angular Leaf Spot </a:t>
            </a:r>
          </a:p>
          <a:p>
            <a:pPr algn="just">
              <a:buFont typeface="Arial" panose="020B0604020202020204" pitchFamily="34" charset="0"/>
              <a:buChar char="•"/>
            </a:pPr>
            <a:r>
              <a:rPr lang="en-US" sz="2100" dirty="0">
                <a:latin typeface="Times New Roman" panose="02020603050405020304" pitchFamily="18" charset="0"/>
                <a:cs typeface="Times New Roman" panose="02020603050405020304" pitchFamily="18" charset="0"/>
              </a:rPr>
              <a:t>Bean Rust </a:t>
            </a:r>
          </a:p>
          <a:p>
            <a:pPr algn="just">
              <a:buFont typeface="Arial" panose="020B0604020202020204" pitchFamily="34" charset="0"/>
              <a:buChar char="•"/>
            </a:pPr>
            <a:r>
              <a:rPr lang="en-US" sz="2100" dirty="0">
                <a:latin typeface="Times New Roman" panose="02020603050405020304" pitchFamily="18" charset="0"/>
                <a:cs typeface="Times New Roman" panose="02020603050405020304" pitchFamily="18" charset="0"/>
              </a:rPr>
              <a:t>Healthy Leaves </a:t>
            </a:r>
          </a:p>
          <a:p>
            <a:pPr algn="just">
              <a:buNone/>
            </a:pPr>
            <a:r>
              <a:rPr lang="en-US" sz="2100" b="1" dirty="0">
                <a:latin typeface="Times New Roman" panose="02020603050405020304" pitchFamily="18" charset="0"/>
                <a:cs typeface="Times New Roman" panose="02020603050405020304" pitchFamily="18" charset="0"/>
              </a:rPr>
              <a:t>System Workflow:- </a:t>
            </a:r>
          </a:p>
          <a:p>
            <a:pPr algn="just">
              <a:buFont typeface="Arial" panose="020B0604020202020204" pitchFamily="34" charset="0"/>
              <a:buChar char="•"/>
            </a:pPr>
            <a:r>
              <a:rPr lang="en-US" sz="2100" dirty="0">
                <a:latin typeface="Times New Roman" panose="02020603050405020304" pitchFamily="18" charset="0"/>
                <a:cs typeface="Times New Roman" panose="02020603050405020304" pitchFamily="18" charset="0"/>
              </a:rPr>
              <a:t>Image collection from Kaggle dataset </a:t>
            </a:r>
          </a:p>
          <a:p>
            <a:pPr algn="just">
              <a:buFont typeface="Arial" panose="020B0604020202020204" pitchFamily="34" charset="0"/>
              <a:buChar char="•"/>
            </a:pPr>
            <a:r>
              <a:rPr lang="en-US" sz="2100" dirty="0">
                <a:latin typeface="Times New Roman" panose="02020603050405020304" pitchFamily="18" charset="0"/>
                <a:cs typeface="Times New Roman" panose="02020603050405020304" pitchFamily="18" charset="0"/>
              </a:rPr>
              <a:t>Image preprocessing </a:t>
            </a:r>
          </a:p>
          <a:p>
            <a:pPr algn="just">
              <a:buFont typeface="Arial" panose="020B0604020202020204" pitchFamily="34" charset="0"/>
              <a:buChar char="•"/>
            </a:pPr>
            <a:r>
              <a:rPr lang="en-US" sz="2100" dirty="0">
                <a:latin typeface="Times New Roman" panose="02020603050405020304" pitchFamily="18" charset="0"/>
                <a:cs typeface="Times New Roman" panose="02020603050405020304" pitchFamily="18" charset="0"/>
              </a:rPr>
              <a:t>Model training using ResNet152V2 </a:t>
            </a:r>
          </a:p>
          <a:p>
            <a:pPr algn="just">
              <a:buFont typeface="Arial" panose="020B0604020202020204" pitchFamily="34" charset="0"/>
              <a:buChar char="•"/>
            </a:pPr>
            <a:r>
              <a:rPr lang="en-US" sz="2100" dirty="0">
                <a:latin typeface="Times New Roman" panose="02020603050405020304" pitchFamily="18" charset="0"/>
                <a:cs typeface="Times New Roman" panose="02020603050405020304" pitchFamily="18" charset="0"/>
              </a:rPr>
              <a:t>Disease prediction and evaluation </a:t>
            </a:r>
          </a:p>
          <a:p>
            <a:pPr algn="just">
              <a:buNone/>
            </a:pPr>
            <a:r>
              <a:rPr lang="en-US" sz="2100" dirty="0">
                <a:latin typeface="Times New Roman" panose="02020603050405020304" pitchFamily="18" charset="0"/>
                <a:cs typeface="Times New Roman" panose="02020603050405020304" pitchFamily="18" charset="0"/>
              </a:rPr>
              <a:t>This system helps in early disease detection, reduces manual effort, and supports smart agriculture.</a:t>
            </a:r>
          </a:p>
        </p:txBody>
      </p:sp>
    </p:spTree>
    <p:extLst>
      <p:ext uri="{BB962C8B-B14F-4D97-AF65-F5344CB8AC3E}">
        <p14:creationId xmlns:p14="http://schemas.microsoft.com/office/powerpoint/2010/main" val="39789133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383AB4-B5B9-59B0-AFA9-C68C585F1649}"/>
              </a:ext>
            </a:extLst>
          </p:cNvPr>
          <p:cNvSpPr>
            <a:spLocks noGrp="1"/>
          </p:cNvSpPr>
          <p:nvPr>
            <p:ph type="title"/>
          </p:nvPr>
        </p:nvSpPr>
        <p:spPr/>
        <p:txBody>
          <a:bodyPr/>
          <a:lstStyle/>
          <a:p>
            <a:pPr algn="ctr"/>
            <a:r>
              <a:rPr lang="en-IN" sz="3200" dirty="0">
                <a:latin typeface="Times New Roman" panose="02020603050405020304" pitchFamily="18" charset="0"/>
                <a:cs typeface="Times New Roman" panose="02020603050405020304" pitchFamily="18" charset="0"/>
              </a:rPr>
              <a:t>Objectives</a:t>
            </a:r>
          </a:p>
        </p:txBody>
      </p:sp>
      <p:sp>
        <p:nvSpPr>
          <p:cNvPr id="3" name="Subtitle 2">
            <a:extLst>
              <a:ext uri="{FF2B5EF4-FFF2-40B4-BE49-F238E27FC236}">
                <a16:creationId xmlns:a16="http://schemas.microsoft.com/office/drawing/2014/main" id="{CEAE3A6C-D455-B434-1C8D-DFB5B51AEF00}"/>
              </a:ext>
            </a:extLst>
          </p:cNvPr>
          <p:cNvSpPr>
            <a:spLocks noGrp="1"/>
          </p:cNvSpPr>
          <p:nvPr>
            <p:ph type="subTitle"/>
          </p:nvPr>
        </p:nvSpPr>
        <p:spPr>
          <a:xfrm>
            <a:off x="264695" y="2189748"/>
            <a:ext cx="8301789" cy="2851485"/>
          </a:xfrm>
        </p:spPr>
        <p:txBody>
          <a:bodyPr/>
          <a:lstStyle/>
          <a:p>
            <a:pPr marL="0" indent="0">
              <a:buNone/>
            </a:pPr>
            <a:r>
              <a:rPr lang="en-US" sz="2100" dirty="0">
                <a:latin typeface="Times New Roman" panose="02020603050405020304" pitchFamily="18" charset="0"/>
                <a:cs typeface="Times New Roman" panose="02020603050405020304" pitchFamily="18" charset="0"/>
              </a:rPr>
              <a:t>The main objective of this project is to develop an accurate deep learning system for automatic bean leaf disease detection using image classification.</a:t>
            </a:r>
          </a:p>
          <a:p>
            <a:pPr marL="0" indent="0">
              <a:buNone/>
            </a:pPr>
            <a:r>
              <a:rPr lang="en-US" sz="2300" b="1" dirty="0">
                <a:latin typeface="Times New Roman" panose="02020603050405020304" pitchFamily="18" charset="0"/>
                <a:cs typeface="Times New Roman" panose="02020603050405020304" pitchFamily="18" charset="0"/>
              </a:rPr>
              <a:t>Project Objectives:-</a:t>
            </a:r>
          </a:p>
          <a:p>
            <a:r>
              <a:rPr lang="en-US" sz="2100" dirty="0">
                <a:latin typeface="Times New Roman" panose="02020603050405020304" pitchFamily="18" charset="0"/>
                <a:cs typeface="Times New Roman" panose="02020603050405020304" pitchFamily="18" charset="0"/>
              </a:rPr>
              <a:t>Detect bean leaf diseases automatically using AI </a:t>
            </a:r>
          </a:p>
          <a:p>
            <a:r>
              <a:rPr lang="en-US" sz="2100" dirty="0">
                <a:latin typeface="Times New Roman" panose="02020603050405020304" pitchFamily="18" charset="0"/>
                <a:cs typeface="Times New Roman" panose="02020603050405020304" pitchFamily="18" charset="0"/>
              </a:rPr>
              <a:t>Classify images into: </a:t>
            </a:r>
          </a:p>
          <a:p>
            <a:pPr lvl="1"/>
            <a:r>
              <a:rPr lang="en-US" sz="2100" dirty="0">
                <a:latin typeface="Times New Roman" panose="02020603050405020304" pitchFamily="18" charset="0"/>
                <a:cs typeface="Times New Roman" panose="02020603050405020304" pitchFamily="18" charset="0"/>
              </a:rPr>
              <a:t>Angular Leaf Spot </a:t>
            </a:r>
          </a:p>
          <a:p>
            <a:pPr lvl="1"/>
            <a:r>
              <a:rPr lang="en-US" sz="2100" dirty="0">
                <a:latin typeface="Times New Roman" panose="02020603050405020304" pitchFamily="18" charset="0"/>
                <a:cs typeface="Times New Roman" panose="02020603050405020304" pitchFamily="18" charset="0"/>
              </a:rPr>
              <a:t>Bean Rust </a:t>
            </a:r>
          </a:p>
          <a:p>
            <a:pPr lvl="1"/>
            <a:r>
              <a:rPr lang="en-US" sz="2100" dirty="0">
                <a:latin typeface="Times New Roman" panose="02020603050405020304" pitchFamily="18" charset="0"/>
                <a:cs typeface="Times New Roman" panose="02020603050405020304" pitchFamily="18" charset="0"/>
              </a:rPr>
              <a:t>Healthy </a:t>
            </a:r>
          </a:p>
          <a:p>
            <a:r>
              <a:rPr lang="en-US" sz="2100" dirty="0">
                <a:latin typeface="Times New Roman" panose="02020603050405020304" pitchFamily="18" charset="0"/>
                <a:cs typeface="Times New Roman" panose="02020603050405020304" pitchFamily="18" charset="0"/>
              </a:rPr>
              <a:t>Improve disease detection accuracy using ResNet152V2 </a:t>
            </a:r>
          </a:p>
          <a:p>
            <a:r>
              <a:rPr lang="en-US" sz="2100" dirty="0">
                <a:latin typeface="Times New Roman" panose="02020603050405020304" pitchFamily="18" charset="0"/>
                <a:cs typeface="Times New Roman" panose="02020603050405020304" pitchFamily="18" charset="0"/>
              </a:rPr>
              <a:t>Reduce crop loss through early diagnosis </a:t>
            </a:r>
          </a:p>
          <a:p>
            <a:r>
              <a:rPr lang="en-US" sz="2100" dirty="0">
                <a:latin typeface="Times New Roman" panose="02020603050405020304" pitchFamily="18" charset="0"/>
                <a:cs typeface="Times New Roman" panose="02020603050405020304" pitchFamily="18" charset="0"/>
              </a:rPr>
              <a:t>Minimize manual effort and human errors </a:t>
            </a:r>
          </a:p>
          <a:p>
            <a:r>
              <a:rPr lang="en-US" sz="2100" dirty="0">
                <a:latin typeface="Times New Roman" panose="02020603050405020304" pitchFamily="18" charset="0"/>
                <a:cs typeface="Times New Roman" panose="02020603050405020304" pitchFamily="18" charset="0"/>
              </a:rPr>
              <a:t>Support smart and sustainable agriculture practices</a:t>
            </a:r>
          </a:p>
          <a:p>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1410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E04CC5-6DAB-2379-A32E-81CD5E4B2360}"/>
              </a:ext>
            </a:extLst>
          </p:cNvPr>
          <p:cNvSpPr>
            <a:spLocks noGrp="1"/>
          </p:cNvSpPr>
          <p:nvPr>
            <p:ph type="title"/>
          </p:nvPr>
        </p:nvSpPr>
        <p:spPr/>
        <p:txBody>
          <a:bodyPr/>
          <a:lstStyle/>
          <a:p>
            <a:pPr algn="ctr"/>
            <a:r>
              <a:rPr lang="en-IN" sz="3200" dirty="0">
                <a:latin typeface="Times New Roman" panose="02020603050405020304" pitchFamily="18" charset="0"/>
                <a:cs typeface="Times New Roman" panose="02020603050405020304" pitchFamily="18" charset="0"/>
              </a:rPr>
              <a:t>Dataset Information</a:t>
            </a:r>
          </a:p>
        </p:txBody>
      </p:sp>
      <p:sp>
        <p:nvSpPr>
          <p:cNvPr id="3" name="Subtitle 2">
            <a:extLst>
              <a:ext uri="{FF2B5EF4-FFF2-40B4-BE49-F238E27FC236}">
                <a16:creationId xmlns:a16="http://schemas.microsoft.com/office/drawing/2014/main" id="{7E187D76-CD9D-2D74-D40C-7897236B10F4}"/>
              </a:ext>
            </a:extLst>
          </p:cNvPr>
          <p:cNvSpPr>
            <a:spLocks noGrp="1"/>
          </p:cNvSpPr>
          <p:nvPr>
            <p:ph type="subTitle"/>
          </p:nvPr>
        </p:nvSpPr>
        <p:spPr>
          <a:xfrm>
            <a:off x="132347" y="914040"/>
            <a:ext cx="8879306" cy="5426602"/>
          </a:xfrm>
        </p:spPr>
        <p:txBody>
          <a:bodyPr/>
          <a:lstStyle/>
          <a:p>
            <a:pPr marL="0" indent="0">
              <a:buNone/>
            </a:pPr>
            <a:r>
              <a:rPr lang="en-IN" sz="2300" b="1" dirty="0">
                <a:latin typeface="Times New Roman" panose="02020603050405020304" pitchFamily="18" charset="0"/>
                <a:cs typeface="Times New Roman" panose="02020603050405020304" pitchFamily="18" charset="0"/>
              </a:rPr>
              <a:t>Dataset Source:-</a:t>
            </a:r>
          </a:p>
          <a:p>
            <a:r>
              <a:rPr lang="en-IN" sz="2100" dirty="0">
                <a:latin typeface="Times New Roman" panose="02020603050405020304" pitchFamily="18" charset="0"/>
                <a:cs typeface="Times New Roman" panose="02020603050405020304" pitchFamily="18" charset="0"/>
              </a:rPr>
              <a:t>Kaggle Open Source Dataset </a:t>
            </a:r>
          </a:p>
          <a:p>
            <a:pPr marL="0" indent="0">
              <a:buNone/>
            </a:pPr>
            <a:r>
              <a:rPr lang="en-IN" sz="2300" b="1" dirty="0">
                <a:latin typeface="Times New Roman" panose="02020603050405020304" pitchFamily="18" charset="0"/>
                <a:cs typeface="Times New Roman" panose="02020603050405020304" pitchFamily="18" charset="0"/>
              </a:rPr>
              <a:t>Classes Used:-</a:t>
            </a:r>
          </a:p>
          <a:p>
            <a:r>
              <a:rPr lang="en-IN" sz="2100" dirty="0">
                <a:latin typeface="Times New Roman" panose="02020603050405020304" pitchFamily="18" charset="0"/>
                <a:cs typeface="Times New Roman" panose="02020603050405020304" pitchFamily="18" charset="0"/>
              </a:rPr>
              <a:t>Angular Leaf Spot </a:t>
            </a:r>
          </a:p>
          <a:p>
            <a:r>
              <a:rPr lang="en-IN" sz="2100" dirty="0">
                <a:latin typeface="Times New Roman" panose="02020603050405020304" pitchFamily="18" charset="0"/>
                <a:cs typeface="Times New Roman" panose="02020603050405020304" pitchFamily="18" charset="0"/>
              </a:rPr>
              <a:t>Bean Rust </a:t>
            </a:r>
          </a:p>
          <a:p>
            <a:r>
              <a:rPr lang="en-IN" sz="2100" dirty="0">
                <a:latin typeface="Times New Roman" panose="02020603050405020304" pitchFamily="18" charset="0"/>
                <a:cs typeface="Times New Roman" panose="02020603050405020304" pitchFamily="18" charset="0"/>
              </a:rPr>
              <a:t>Healthy </a:t>
            </a:r>
          </a:p>
          <a:p>
            <a:pPr marL="0" indent="0">
              <a:buNone/>
            </a:pPr>
            <a:r>
              <a:rPr lang="en-IN" sz="2300" b="1" dirty="0">
                <a:latin typeface="Times New Roman" panose="02020603050405020304" pitchFamily="18" charset="0"/>
                <a:cs typeface="Times New Roman" panose="02020603050405020304" pitchFamily="18" charset="0"/>
              </a:rPr>
              <a:t>Dataset Distribution:-</a:t>
            </a:r>
          </a:p>
          <a:p>
            <a:r>
              <a:rPr lang="en-IN" sz="2100" dirty="0">
                <a:latin typeface="Times New Roman" panose="02020603050405020304" pitchFamily="18" charset="0"/>
                <a:cs typeface="Times New Roman" panose="02020603050405020304" pitchFamily="18" charset="0"/>
              </a:rPr>
              <a:t>Training Images: 1034 </a:t>
            </a:r>
          </a:p>
          <a:p>
            <a:r>
              <a:rPr lang="en-IN" sz="2100" dirty="0">
                <a:latin typeface="Times New Roman" panose="02020603050405020304" pitchFamily="18" charset="0"/>
                <a:cs typeface="Times New Roman" panose="02020603050405020304" pitchFamily="18" charset="0"/>
              </a:rPr>
              <a:t>Validation Images: 133</a:t>
            </a:r>
          </a:p>
          <a:p>
            <a:endParaRPr lang="en-IN" sz="21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466781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877C10-7421-753C-5B51-A8D3E929D160}"/>
              </a:ext>
            </a:extLst>
          </p:cNvPr>
          <p:cNvSpPr>
            <a:spLocks noGrp="1"/>
          </p:cNvSpPr>
          <p:nvPr>
            <p:ph type="title"/>
          </p:nvPr>
        </p:nvSpPr>
        <p:spPr/>
        <p:txBody>
          <a:bodyPr/>
          <a:lstStyle/>
          <a:p>
            <a:pPr algn="ctr"/>
            <a:r>
              <a:rPr lang="en-IN" sz="3200" dirty="0">
                <a:latin typeface="Times New Roman" panose="02020603050405020304" pitchFamily="18" charset="0"/>
                <a:cs typeface="Times New Roman" panose="02020603050405020304" pitchFamily="18" charset="0"/>
              </a:rPr>
              <a:t>Methodology</a:t>
            </a:r>
          </a:p>
        </p:txBody>
      </p:sp>
      <p:sp>
        <p:nvSpPr>
          <p:cNvPr id="3" name="Subtitle 2">
            <a:extLst>
              <a:ext uri="{FF2B5EF4-FFF2-40B4-BE49-F238E27FC236}">
                <a16:creationId xmlns:a16="http://schemas.microsoft.com/office/drawing/2014/main" id="{7562982B-6B1A-D6A2-4457-645A3075414C}"/>
              </a:ext>
            </a:extLst>
          </p:cNvPr>
          <p:cNvSpPr>
            <a:spLocks noGrp="1"/>
          </p:cNvSpPr>
          <p:nvPr>
            <p:ph type="subTitle"/>
          </p:nvPr>
        </p:nvSpPr>
        <p:spPr>
          <a:xfrm>
            <a:off x="132347" y="998621"/>
            <a:ext cx="8867274" cy="5414211"/>
          </a:xfrm>
        </p:spPr>
        <p:txBody>
          <a:bodyPr/>
          <a:lstStyle/>
          <a:p>
            <a:pPr marL="0" indent="0">
              <a:buNone/>
            </a:pPr>
            <a:r>
              <a:rPr lang="en-US" sz="2200" dirty="0"/>
              <a:t>The proposed system follows a step-by-step deep learning approach for bean leaf disease classification using the ResNet152V2 model.</a:t>
            </a:r>
          </a:p>
          <a:p>
            <a:pPr marL="0" indent="0">
              <a:buNone/>
            </a:pPr>
            <a:r>
              <a:rPr lang="en-US" sz="2200" b="1" dirty="0"/>
              <a:t>Steps Involved</a:t>
            </a:r>
          </a:p>
          <a:p>
            <a:r>
              <a:rPr lang="en-US" sz="2200" dirty="0"/>
              <a:t>Collection of bean leaf images from the Kaggle dataset </a:t>
            </a:r>
          </a:p>
          <a:p>
            <a:r>
              <a:rPr lang="en-US" sz="2200" dirty="0"/>
              <a:t>Image preprocessing and resizing for better input quality </a:t>
            </a:r>
          </a:p>
          <a:p>
            <a:r>
              <a:rPr lang="en-US" sz="2200" dirty="0"/>
              <a:t>Data augmentation to improve model generalization </a:t>
            </a:r>
          </a:p>
          <a:p>
            <a:r>
              <a:rPr lang="en-US" sz="2200" dirty="0"/>
              <a:t>Training the ResNet152V2 CNN model on the dataset </a:t>
            </a:r>
          </a:p>
          <a:p>
            <a:r>
              <a:rPr lang="en-US" sz="2200" dirty="0"/>
              <a:t>Validation and testing using unseen images </a:t>
            </a:r>
          </a:p>
          <a:p>
            <a:r>
              <a:rPr lang="en-US" sz="2200" dirty="0"/>
              <a:t>Performance evaluation using accuracy, precision, recall, and F1-score</a:t>
            </a:r>
          </a:p>
          <a:p>
            <a:endParaRPr lang="en-IN" sz="2200" dirty="0"/>
          </a:p>
        </p:txBody>
      </p:sp>
    </p:spTree>
    <p:extLst>
      <p:ext uri="{BB962C8B-B14F-4D97-AF65-F5344CB8AC3E}">
        <p14:creationId xmlns:p14="http://schemas.microsoft.com/office/powerpoint/2010/main" val="33460969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9A1E20-8B9E-8961-FF57-433BB656B03A}"/>
              </a:ext>
            </a:extLst>
          </p:cNvPr>
          <p:cNvSpPr>
            <a:spLocks noGrp="1"/>
          </p:cNvSpPr>
          <p:nvPr>
            <p:ph type="title"/>
          </p:nvPr>
        </p:nvSpPr>
        <p:spPr/>
        <p:txBody>
          <a:bodyPr/>
          <a:lstStyle/>
          <a:p>
            <a:pPr algn="ctr"/>
            <a:r>
              <a:rPr lang="en-IN" sz="3200" dirty="0">
                <a:latin typeface="Times New Roman" panose="02020603050405020304" pitchFamily="18" charset="0"/>
                <a:cs typeface="Times New Roman" panose="02020603050405020304" pitchFamily="18" charset="0"/>
              </a:rPr>
              <a:t>Model Used — ResNet152V2</a:t>
            </a:r>
          </a:p>
        </p:txBody>
      </p:sp>
      <p:sp>
        <p:nvSpPr>
          <p:cNvPr id="3" name="Subtitle 2">
            <a:extLst>
              <a:ext uri="{FF2B5EF4-FFF2-40B4-BE49-F238E27FC236}">
                <a16:creationId xmlns:a16="http://schemas.microsoft.com/office/drawing/2014/main" id="{08FF9C8F-1F94-5F46-D678-2B5E6CB66DFA}"/>
              </a:ext>
            </a:extLst>
          </p:cNvPr>
          <p:cNvSpPr>
            <a:spLocks noGrp="1"/>
          </p:cNvSpPr>
          <p:nvPr>
            <p:ph type="subTitle"/>
          </p:nvPr>
        </p:nvSpPr>
        <p:spPr>
          <a:xfrm>
            <a:off x="204537" y="1864895"/>
            <a:ext cx="8939463" cy="4126832"/>
          </a:xfrm>
        </p:spPr>
        <p:txBody>
          <a:bodyPr/>
          <a:lstStyle/>
          <a:p>
            <a:pPr marL="0" indent="0">
              <a:buNone/>
            </a:pPr>
            <a:r>
              <a:rPr lang="en-US" sz="2100" dirty="0">
                <a:latin typeface="Times New Roman" panose="02020603050405020304" pitchFamily="18" charset="0"/>
                <a:cs typeface="Times New Roman" panose="02020603050405020304" pitchFamily="18" charset="0"/>
              </a:rPr>
              <a:t>In this project, we used the </a:t>
            </a:r>
            <a:r>
              <a:rPr lang="en-US" sz="2100" b="1" dirty="0">
                <a:latin typeface="Times New Roman" panose="02020603050405020304" pitchFamily="18" charset="0"/>
                <a:cs typeface="Times New Roman" panose="02020603050405020304" pitchFamily="18" charset="0"/>
              </a:rPr>
              <a:t>ResNet152V2</a:t>
            </a:r>
            <a:r>
              <a:rPr lang="en-US" sz="2100" dirty="0">
                <a:latin typeface="Times New Roman" panose="02020603050405020304" pitchFamily="18" charset="0"/>
                <a:cs typeface="Times New Roman" panose="02020603050405020304" pitchFamily="18" charset="0"/>
              </a:rPr>
              <a:t> deep learning model for bean leaf disease classification. It is a powerful CNN architecture used for image recognition tasks.</a:t>
            </a:r>
          </a:p>
          <a:p>
            <a:pPr marL="0" indent="0">
              <a:buNone/>
            </a:pPr>
            <a:r>
              <a:rPr lang="en-US" sz="2100" dirty="0">
                <a:latin typeface="Times New Roman" panose="02020603050405020304" pitchFamily="18" charset="0"/>
                <a:cs typeface="Times New Roman" panose="02020603050405020304" pitchFamily="18" charset="0"/>
              </a:rPr>
              <a:t>ResNet152V2 contains </a:t>
            </a:r>
            <a:r>
              <a:rPr lang="en-US" sz="2100" b="1" dirty="0">
                <a:latin typeface="Times New Roman" panose="02020603050405020304" pitchFamily="18" charset="0"/>
                <a:cs typeface="Times New Roman" panose="02020603050405020304" pitchFamily="18" charset="0"/>
              </a:rPr>
              <a:t>152 layers</a:t>
            </a:r>
            <a:r>
              <a:rPr lang="en-US" sz="2100" dirty="0">
                <a:latin typeface="Times New Roman" panose="02020603050405020304" pitchFamily="18" charset="0"/>
                <a:cs typeface="Times New Roman" panose="02020603050405020304" pitchFamily="18" charset="0"/>
              </a:rPr>
              <a:t> and uses </a:t>
            </a:r>
            <a:r>
              <a:rPr lang="en-US" sz="2100" b="1" dirty="0">
                <a:latin typeface="Times New Roman" panose="02020603050405020304" pitchFamily="18" charset="0"/>
                <a:cs typeface="Times New Roman" panose="02020603050405020304" pitchFamily="18" charset="0"/>
              </a:rPr>
              <a:t>residual connections</a:t>
            </a:r>
            <a:r>
              <a:rPr lang="en-US" sz="2100" dirty="0">
                <a:latin typeface="Times New Roman" panose="02020603050405020304" pitchFamily="18" charset="0"/>
                <a:cs typeface="Times New Roman" panose="02020603050405020304" pitchFamily="18" charset="0"/>
              </a:rPr>
              <a:t>, which help improve training performance and solve the vanishing gradient problem.</a:t>
            </a:r>
          </a:p>
          <a:p>
            <a:pPr marL="0" indent="0">
              <a:buNone/>
            </a:pPr>
            <a:r>
              <a:rPr lang="en-US" sz="2100" b="1" dirty="0">
                <a:latin typeface="Times New Roman" panose="02020603050405020304" pitchFamily="18" charset="0"/>
                <a:cs typeface="Times New Roman" panose="02020603050405020304" pitchFamily="18" charset="0"/>
              </a:rPr>
              <a:t>Features</a:t>
            </a:r>
          </a:p>
          <a:p>
            <a:r>
              <a:rPr lang="en-US" sz="2100" dirty="0">
                <a:latin typeface="Times New Roman" panose="02020603050405020304" pitchFamily="18" charset="0"/>
                <a:cs typeface="Times New Roman" panose="02020603050405020304" pitchFamily="18" charset="0"/>
              </a:rPr>
              <a:t>Deep CNN architecture </a:t>
            </a:r>
          </a:p>
          <a:p>
            <a:r>
              <a:rPr lang="en-US" sz="2100" dirty="0">
                <a:latin typeface="Times New Roman" panose="02020603050405020304" pitchFamily="18" charset="0"/>
                <a:cs typeface="Times New Roman" panose="02020603050405020304" pitchFamily="18" charset="0"/>
              </a:rPr>
              <a:t>Strong feature extraction capability </a:t>
            </a:r>
          </a:p>
          <a:p>
            <a:r>
              <a:rPr lang="en-US" sz="2100" dirty="0">
                <a:latin typeface="Times New Roman" panose="02020603050405020304" pitchFamily="18" charset="0"/>
                <a:cs typeface="Times New Roman" panose="02020603050405020304" pitchFamily="18" charset="0"/>
              </a:rPr>
              <a:t>High classification accuracy </a:t>
            </a:r>
          </a:p>
          <a:p>
            <a:r>
              <a:rPr lang="en-US" sz="2100" dirty="0">
                <a:latin typeface="Times New Roman" panose="02020603050405020304" pitchFamily="18" charset="0"/>
                <a:cs typeface="Times New Roman" panose="02020603050405020304" pitchFamily="18" charset="0"/>
              </a:rPr>
              <a:t>Uses residual learning </a:t>
            </a:r>
          </a:p>
          <a:p>
            <a:r>
              <a:rPr lang="en-US" sz="2100" dirty="0">
                <a:latin typeface="Times New Roman" panose="02020603050405020304" pitchFamily="18" charset="0"/>
                <a:cs typeface="Times New Roman" panose="02020603050405020304" pitchFamily="18" charset="0"/>
              </a:rPr>
              <a:t>Efficient for complex image classification </a:t>
            </a:r>
          </a:p>
          <a:p>
            <a:r>
              <a:rPr lang="en-US" sz="2100" dirty="0">
                <a:latin typeface="Times New Roman" panose="02020603050405020304" pitchFamily="18" charset="0"/>
                <a:cs typeface="Times New Roman" panose="02020603050405020304" pitchFamily="18" charset="0"/>
              </a:rPr>
              <a:t>The model classifies bean leaf images into:</a:t>
            </a:r>
          </a:p>
          <a:p>
            <a:r>
              <a:rPr lang="en-US" sz="2100" dirty="0">
                <a:latin typeface="Times New Roman" panose="02020603050405020304" pitchFamily="18" charset="0"/>
                <a:cs typeface="Times New Roman" panose="02020603050405020304" pitchFamily="18" charset="0"/>
              </a:rPr>
              <a:t>Angular Leaf Spot </a:t>
            </a:r>
          </a:p>
          <a:p>
            <a:r>
              <a:rPr lang="en-US" sz="2100" dirty="0">
                <a:latin typeface="Times New Roman" panose="02020603050405020304" pitchFamily="18" charset="0"/>
                <a:cs typeface="Times New Roman" panose="02020603050405020304" pitchFamily="18" charset="0"/>
              </a:rPr>
              <a:t>Bean Leaf Spot</a:t>
            </a:r>
          </a:p>
          <a:p>
            <a:endParaRPr lang="en-IN" sz="21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141533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E059C3-48A8-D1B5-ACFA-36AF290552BF}"/>
              </a:ext>
            </a:extLst>
          </p:cNvPr>
          <p:cNvSpPr>
            <a:spLocks noGrp="1"/>
          </p:cNvSpPr>
          <p:nvPr>
            <p:ph type="title"/>
          </p:nvPr>
        </p:nvSpPr>
        <p:spPr/>
        <p:txBody>
          <a:bodyPr/>
          <a:lstStyle/>
          <a:p>
            <a:pPr algn="ctr"/>
            <a:r>
              <a:rPr lang="en-IN" sz="3200" dirty="0">
                <a:latin typeface="Times New Roman" panose="02020603050405020304" pitchFamily="18" charset="0"/>
                <a:cs typeface="Times New Roman" panose="02020603050405020304" pitchFamily="18" charset="0"/>
              </a:rPr>
              <a:t>Performance Metrics</a:t>
            </a:r>
          </a:p>
        </p:txBody>
      </p:sp>
      <p:sp>
        <p:nvSpPr>
          <p:cNvPr id="3" name="Subtitle 2">
            <a:extLst>
              <a:ext uri="{FF2B5EF4-FFF2-40B4-BE49-F238E27FC236}">
                <a16:creationId xmlns:a16="http://schemas.microsoft.com/office/drawing/2014/main" id="{79F98484-36F5-5087-DE3D-6C258817B91B}"/>
              </a:ext>
            </a:extLst>
          </p:cNvPr>
          <p:cNvSpPr>
            <a:spLocks noGrp="1"/>
          </p:cNvSpPr>
          <p:nvPr>
            <p:ph type="subTitle"/>
          </p:nvPr>
        </p:nvSpPr>
        <p:spPr>
          <a:xfrm>
            <a:off x="132347" y="914040"/>
            <a:ext cx="8746959" cy="1138319"/>
          </a:xfrm>
        </p:spPr>
        <p:txBody>
          <a:bodyPr/>
          <a:lstStyle/>
          <a:p>
            <a:pPr marL="0" indent="0">
              <a:buNone/>
            </a:pPr>
            <a:r>
              <a:rPr lang="en-US" sz="2100" dirty="0">
                <a:latin typeface="Times New Roman" panose="02020603050405020304" pitchFamily="18" charset="0"/>
                <a:cs typeface="Times New Roman" panose="02020603050405020304" pitchFamily="18" charset="0"/>
              </a:rPr>
              <a:t>The performance of the ResNet152V2 model was evaluated using different metrics to measure classification accuracy and reliability.</a:t>
            </a:r>
            <a:endParaRPr lang="en-IN" sz="2100" dirty="0">
              <a:latin typeface="Times New Roman" panose="02020603050405020304" pitchFamily="18" charset="0"/>
              <a:cs typeface="Times New Roman" panose="02020603050405020304" pitchFamily="18" charset="0"/>
            </a:endParaRPr>
          </a:p>
        </p:txBody>
      </p:sp>
      <p:graphicFrame>
        <p:nvGraphicFramePr>
          <p:cNvPr id="4" name="Table 3">
            <a:extLst>
              <a:ext uri="{FF2B5EF4-FFF2-40B4-BE49-F238E27FC236}">
                <a16:creationId xmlns:a16="http://schemas.microsoft.com/office/drawing/2014/main" id="{76AE07BC-4B1A-4E1C-92AF-440EC78E72FA}"/>
              </a:ext>
            </a:extLst>
          </p:cNvPr>
          <p:cNvGraphicFramePr>
            <a:graphicFrameLocks noGrp="1"/>
          </p:cNvGraphicFramePr>
          <p:nvPr>
            <p:extLst>
              <p:ext uri="{D42A27DB-BD31-4B8C-83A1-F6EECF244321}">
                <p14:modId xmlns:p14="http://schemas.microsoft.com/office/powerpoint/2010/main" val="2291156113"/>
              </p:ext>
            </p:extLst>
          </p:nvPr>
        </p:nvGraphicFramePr>
        <p:xfrm>
          <a:off x="132347" y="2088813"/>
          <a:ext cx="8398041" cy="3722441"/>
        </p:xfrm>
        <a:graphic>
          <a:graphicData uri="http://schemas.openxmlformats.org/drawingml/2006/table">
            <a:tbl>
              <a:tblPr/>
              <a:tblGrid>
                <a:gridCol w="2799347">
                  <a:extLst>
                    <a:ext uri="{9D8B030D-6E8A-4147-A177-3AD203B41FA5}">
                      <a16:colId xmlns:a16="http://schemas.microsoft.com/office/drawing/2014/main" val="835106261"/>
                    </a:ext>
                  </a:extLst>
                </a:gridCol>
                <a:gridCol w="2799347">
                  <a:extLst>
                    <a:ext uri="{9D8B030D-6E8A-4147-A177-3AD203B41FA5}">
                      <a16:colId xmlns:a16="http://schemas.microsoft.com/office/drawing/2014/main" val="3905378049"/>
                    </a:ext>
                  </a:extLst>
                </a:gridCol>
                <a:gridCol w="2799347">
                  <a:extLst>
                    <a:ext uri="{9D8B030D-6E8A-4147-A177-3AD203B41FA5}">
                      <a16:colId xmlns:a16="http://schemas.microsoft.com/office/drawing/2014/main" val="822972969"/>
                    </a:ext>
                  </a:extLst>
                </a:gridCol>
              </a:tblGrid>
              <a:tr h="465305">
                <a:tc>
                  <a:txBody>
                    <a:bodyPr/>
                    <a:lstStyle/>
                    <a:p>
                      <a:pPr>
                        <a:buNone/>
                      </a:pPr>
                      <a:r>
                        <a:rPr lang="en-IN" b="1" dirty="0"/>
                        <a:t>Metric</a:t>
                      </a:r>
                    </a:p>
                  </a:txBody>
                  <a:tcPr anchor="ctr">
                    <a:lnL>
                      <a:noFill/>
                    </a:lnL>
                    <a:lnR>
                      <a:noFill/>
                    </a:lnR>
                    <a:lnT>
                      <a:noFill/>
                    </a:lnT>
                    <a:lnB>
                      <a:noFill/>
                    </a:lnB>
                    <a:noFill/>
                  </a:tcPr>
                </a:tc>
                <a:tc>
                  <a:txBody>
                    <a:bodyPr/>
                    <a:lstStyle/>
                    <a:p>
                      <a:pPr>
                        <a:buNone/>
                      </a:pPr>
                      <a:r>
                        <a:rPr lang="en-IN" b="1" dirty="0"/>
                        <a:t>Description</a:t>
                      </a:r>
                    </a:p>
                  </a:txBody>
                  <a:tcPr anchor="ctr">
                    <a:lnL>
                      <a:noFill/>
                    </a:lnL>
                    <a:lnR>
                      <a:noFill/>
                    </a:lnR>
                    <a:lnT>
                      <a:noFill/>
                    </a:lnT>
                    <a:lnB>
                      <a:noFill/>
                    </a:lnB>
                    <a:noFill/>
                  </a:tcPr>
                </a:tc>
                <a:tc>
                  <a:txBody>
                    <a:bodyPr/>
                    <a:lstStyle/>
                    <a:p>
                      <a:pPr>
                        <a:buNone/>
                      </a:pPr>
                      <a:r>
                        <a:rPr lang="en-IN" b="1" dirty="0"/>
                        <a:t>Result</a:t>
                      </a:r>
                    </a:p>
                  </a:txBody>
                  <a:tcPr anchor="ctr">
                    <a:lnL>
                      <a:noFill/>
                    </a:lnL>
                    <a:lnR>
                      <a:noFill/>
                    </a:lnR>
                    <a:lnT>
                      <a:noFill/>
                    </a:lnT>
                    <a:lnB>
                      <a:noFill/>
                    </a:lnB>
                    <a:noFill/>
                  </a:tcPr>
                </a:tc>
                <a:extLst>
                  <a:ext uri="{0D108BD9-81ED-4DB2-BD59-A6C34878D82A}">
                    <a16:rowId xmlns:a16="http://schemas.microsoft.com/office/drawing/2014/main" val="2820443635"/>
                  </a:ext>
                </a:extLst>
              </a:tr>
              <a:tr h="814284">
                <a:tc>
                  <a:txBody>
                    <a:bodyPr/>
                    <a:lstStyle/>
                    <a:p>
                      <a:pPr>
                        <a:buNone/>
                      </a:pPr>
                      <a:r>
                        <a:rPr lang="en-IN"/>
                        <a:t>Accuracy</a:t>
                      </a:r>
                    </a:p>
                  </a:txBody>
                  <a:tcPr anchor="ctr">
                    <a:lnL>
                      <a:noFill/>
                    </a:lnL>
                    <a:lnR>
                      <a:noFill/>
                    </a:lnR>
                    <a:lnT>
                      <a:noFill/>
                    </a:lnT>
                    <a:lnB>
                      <a:noFill/>
                    </a:lnB>
                    <a:noFill/>
                  </a:tcPr>
                </a:tc>
                <a:tc>
                  <a:txBody>
                    <a:bodyPr/>
                    <a:lstStyle/>
                    <a:p>
                      <a:pPr>
                        <a:buNone/>
                      </a:pPr>
                      <a:r>
                        <a:rPr lang="en-IN" dirty="0"/>
                        <a:t>Overall correct predictions</a:t>
                      </a:r>
                    </a:p>
                  </a:txBody>
                  <a:tcPr anchor="ctr">
                    <a:lnL>
                      <a:noFill/>
                    </a:lnL>
                    <a:lnR>
                      <a:noFill/>
                    </a:lnR>
                    <a:lnT>
                      <a:noFill/>
                    </a:lnT>
                    <a:lnB>
                      <a:noFill/>
                    </a:lnB>
                    <a:noFill/>
                  </a:tcPr>
                </a:tc>
                <a:tc>
                  <a:txBody>
                    <a:bodyPr/>
                    <a:lstStyle/>
                    <a:p>
                      <a:pPr>
                        <a:buNone/>
                      </a:pPr>
                      <a:r>
                        <a:rPr lang="en-IN"/>
                        <a:t>88%</a:t>
                      </a:r>
                    </a:p>
                  </a:txBody>
                  <a:tcPr anchor="ctr">
                    <a:lnL>
                      <a:noFill/>
                    </a:lnL>
                    <a:lnR>
                      <a:noFill/>
                    </a:lnR>
                    <a:lnT>
                      <a:noFill/>
                    </a:lnT>
                    <a:lnB>
                      <a:noFill/>
                    </a:lnB>
                    <a:noFill/>
                  </a:tcPr>
                </a:tc>
                <a:extLst>
                  <a:ext uri="{0D108BD9-81ED-4DB2-BD59-A6C34878D82A}">
                    <a16:rowId xmlns:a16="http://schemas.microsoft.com/office/drawing/2014/main" val="4269131469"/>
                  </a:ext>
                </a:extLst>
              </a:tr>
              <a:tr h="814284">
                <a:tc>
                  <a:txBody>
                    <a:bodyPr/>
                    <a:lstStyle/>
                    <a:p>
                      <a:pPr>
                        <a:buNone/>
                      </a:pPr>
                      <a:r>
                        <a:rPr lang="en-IN"/>
                        <a:t>Precision</a:t>
                      </a:r>
                    </a:p>
                  </a:txBody>
                  <a:tcPr anchor="ctr">
                    <a:lnL>
                      <a:noFill/>
                    </a:lnL>
                    <a:lnR>
                      <a:noFill/>
                    </a:lnR>
                    <a:lnT>
                      <a:noFill/>
                    </a:lnT>
                    <a:lnB>
                      <a:noFill/>
                    </a:lnB>
                    <a:noFill/>
                  </a:tcPr>
                </a:tc>
                <a:tc>
                  <a:txBody>
                    <a:bodyPr/>
                    <a:lstStyle/>
                    <a:p>
                      <a:pPr>
                        <a:buNone/>
                      </a:pPr>
                      <a:r>
                        <a:rPr lang="en-IN" dirty="0"/>
                        <a:t>Correct predicted disease cases</a:t>
                      </a:r>
                    </a:p>
                  </a:txBody>
                  <a:tcPr anchor="ctr">
                    <a:lnL>
                      <a:noFill/>
                    </a:lnL>
                    <a:lnR>
                      <a:noFill/>
                    </a:lnR>
                    <a:lnT>
                      <a:noFill/>
                    </a:lnT>
                    <a:lnB>
                      <a:noFill/>
                    </a:lnB>
                    <a:noFill/>
                  </a:tcPr>
                </a:tc>
                <a:tc>
                  <a:txBody>
                    <a:bodyPr/>
                    <a:lstStyle/>
                    <a:p>
                      <a:pPr>
                        <a:buNone/>
                      </a:pPr>
                      <a:r>
                        <a:rPr lang="en-IN"/>
                        <a:t>0.85 – 0.92</a:t>
                      </a:r>
                    </a:p>
                  </a:txBody>
                  <a:tcPr anchor="ctr">
                    <a:lnL>
                      <a:noFill/>
                    </a:lnL>
                    <a:lnR>
                      <a:noFill/>
                    </a:lnR>
                    <a:lnT>
                      <a:noFill/>
                    </a:lnT>
                    <a:lnB>
                      <a:noFill/>
                    </a:lnB>
                    <a:noFill/>
                  </a:tcPr>
                </a:tc>
                <a:extLst>
                  <a:ext uri="{0D108BD9-81ED-4DB2-BD59-A6C34878D82A}">
                    <a16:rowId xmlns:a16="http://schemas.microsoft.com/office/drawing/2014/main" val="4116546893"/>
                  </a:ext>
                </a:extLst>
              </a:tr>
              <a:tr h="814284">
                <a:tc>
                  <a:txBody>
                    <a:bodyPr/>
                    <a:lstStyle/>
                    <a:p>
                      <a:pPr>
                        <a:buNone/>
                      </a:pPr>
                      <a:r>
                        <a:rPr lang="en-IN" dirty="0"/>
                        <a:t>Recall</a:t>
                      </a:r>
                    </a:p>
                  </a:txBody>
                  <a:tcPr anchor="ctr">
                    <a:lnL>
                      <a:noFill/>
                    </a:lnL>
                    <a:lnR>
                      <a:noFill/>
                    </a:lnR>
                    <a:lnT>
                      <a:noFill/>
                    </a:lnT>
                    <a:lnB>
                      <a:noFill/>
                    </a:lnB>
                    <a:noFill/>
                  </a:tcPr>
                </a:tc>
                <a:tc>
                  <a:txBody>
                    <a:bodyPr/>
                    <a:lstStyle/>
                    <a:p>
                      <a:pPr>
                        <a:buNone/>
                      </a:pPr>
                      <a:r>
                        <a:rPr lang="en-IN"/>
                        <a:t>Correctly identified actual cases</a:t>
                      </a:r>
                    </a:p>
                  </a:txBody>
                  <a:tcPr anchor="ctr">
                    <a:lnL>
                      <a:noFill/>
                    </a:lnL>
                    <a:lnR>
                      <a:noFill/>
                    </a:lnR>
                    <a:lnT>
                      <a:noFill/>
                    </a:lnT>
                    <a:lnB>
                      <a:noFill/>
                    </a:lnB>
                    <a:noFill/>
                  </a:tcPr>
                </a:tc>
                <a:tc>
                  <a:txBody>
                    <a:bodyPr/>
                    <a:lstStyle/>
                    <a:p>
                      <a:pPr>
                        <a:buNone/>
                      </a:pPr>
                      <a:r>
                        <a:rPr lang="en-IN" dirty="0"/>
                        <a:t>0.84 – 0.91</a:t>
                      </a:r>
                    </a:p>
                  </a:txBody>
                  <a:tcPr anchor="ctr">
                    <a:lnL>
                      <a:noFill/>
                    </a:lnL>
                    <a:lnR>
                      <a:noFill/>
                    </a:lnR>
                    <a:lnT>
                      <a:noFill/>
                    </a:lnT>
                    <a:lnB>
                      <a:noFill/>
                    </a:lnB>
                    <a:noFill/>
                  </a:tcPr>
                </a:tc>
                <a:extLst>
                  <a:ext uri="{0D108BD9-81ED-4DB2-BD59-A6C34878D82A}">
                    <a16:rowId xmlns:a16="http://schemas.microsoft.com/office/drawing/2014/main" val="3905579026"/>
                  </a:ext>
                </a:extLst>
              </a:tr>
              <a:tr h="814284">
                <a:tc>
                  <a:txBody>
                    <a:bodyPr/>
                    <a:lstStyle/>
                    <a:p>
                      <a:pPr>
                        <a:buNone/>
                      </a:pPr>
                      <a:r>
                        <a:rPr lang="en-IN" dirty="0"/>
                        <a:t>F1-Score</a:t>
                      </a:r>
                    </a:p>
                  </a:txBody>
                  <a:tcPr anchor="ctr">
                    <a:lnL>
                      <a:noFill/>
                    </a:lnL>
                    <a:lnR>
                      <a:noFill/>
                    </a:lnR>
                    <a:lnT>
                      <a:noFill/>
                    </a:lnT>
                    <a:lnB>
                      <a:noFill/>
                    </a:lnB>
                    <a:noFill/>
                  </a:tcPr>
                </a:tc>
                <a:tc>
                  <a:txBody>
                    <a:bodyPr/>
                    <a:lstStyle/>
                    <a:p>
                      <a:pPr>
                        <a:buNone/>
                      </a:pPr>
                      <a:r>
                        <a:rPr lang="en-US" dirty="0"/>
                        <a:t>Balance between precision and recall</a:t>
                      </a:r>
                    </a:p>
                  </a:txBody>
                  <a:tcPr anchor="ctr">
                    <a:lnL>
                      <a:noFill/>
                    </a:lnL>
                    <a:lnR>
                      <a:noFill/>
                    </a:lnR>
                    <a:lnT>
                      <a:noFill/>
                    </a:lnT>
                    <a:lnB>
                      <a:noFill/>
                    </a:lnB>
                    <a:noFill/>
                  </a:tcPr>
                </a:tc>
                <a:tc>
                  <a:txBody>
                    <a:bodyPr/>
                    <a:lstStyle/>
                    <a:p>
                      <a:pPr>
                        <a:buNone/>
                      </a:pPr>
                      <a:r>
                        <a:rPr lang="en-IN" dirty="0"/>
                        <a:t>0.85 – 0.90</a:t>
                      </a:r>
                    </a:p>
                  </a:txBody>
                  <a:tcPr anchor="ctr">
                    <a:lnL>
                      <a:noFill/>
                    </a:lnL>
                    <a:lnR>
                      <a:noFill/>
                    </a:lnR>
                    <a:lnT>
                      <a:noFill/>
                    </a:lnT>
                    <a:lnB>
                      <a:noFill/>
                    </a:lnB>
                    <a:noFill/>
                  </a:tcPr>
                </a:tc>
                <a:extLst>
                  <a:ext uri="{0D108BD9-81ED-4DB2-BD59-A6C34878D82A}">
                    <a16:rowId xmlns:a16="http://schemas.microsoft.com/office/drawing/2014/main" val="3632819326"/>
                  </a:ext>
                </a:extLst>
              </a:tr>
            </a:tbl>
          </a:graphicData>
        </a:graphic>
      </p:graphicFrame>
      <p:sp>
        <p:nvSpPr>
          <p:cNvPr id="8" name="TextBox 7">
            <a:extLst>
              <a:ext uri="{FF2B5EF4-FFF2-40B4-BE49-F238E27FC236}">
                <a16:creationId xmlns:a16="http://schemas.microsoft.com/office/drawing/2014/main" id="{454659B5-1FD3-4987-47B5-F0E8B92CBEA5}"/>
              </a:ext>
            </a:extLst>
          </p:cNvPr>
          <p:cNvSpPr txBox="1"/>
          <p:nvPr/>
        </p:nvSpPr>
        <p:spPr>
          <a:xfrm>
            <a:off x="132347" y="5811254"/>
            <a:ext cx="9011653" cy="738664"/>
          </a:xfrm>
          <a:prstGeom prst="rect">
            <a:avLst/>
          </a:prstGeom>
          <a:noFill/>
        </p:spPr>
        <p:txBody>
          <a:bodyPr wrap="square">
            <a:spAutoFit/>
          </a:bodyPr>
          <a:lstStyle/>
          <a:p>
            <a:r>
              <a:rPr lang="en-US" sz="2100" dirty="0">
                <a:latin typeface="Times New Roman" panose="02020603050405020304" pitchFamily="18" charset="0"/>
                <a:cs typeface="Times New Roman" panose="02020603050405020304" pitchFamily="18" charset="0"/>
              </a:rPr>
              <a:t>These results show that the model performed well in bean leaf disease classification with low misclassification.</a:t>
            </a:r>
            <a:endParaRPr lang="en-IN" sz="21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727664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8682BA-6E42-7804-2B18-0057A63ABE4F}"/>
              </a:ext>
            </a:extLst>
          </p:cNvPr>
          <p:cNvSpPr>
            <a:spLocks noGrp="1"/>
          </p:cNvSpPr>
          <p:nvPr>
            <p:ph type="title"/>
          </p:nvPr>
        </p:nvSpPr>
        <p:spPr/>
        <p:txBody>
          <a:bodyPr/>
          <a:lstStyle/>
          <a:p>
            <a:pPr algn="ctr"/>
            <a:r>
              <a:rPr lang="en-IN" sz="3200" dirty="0">
                <a:latin typeface="Times New Roman" panose="02020603050405020304" pitchFamily="18" charset="0"/>
                <a:cs typeface="Times New Roman" panose="02020603050405020304" pitchFamily="18" charset="0"/>
              </a:rPr>
              <a:t>Advantages and Application</a:t>
            </a:r>
          </a:p>
        </p:txBody>
      </p:sp>
      <p:sp>
        <p:nvSpPr>
          <p:cNvPr id="3" name="Subtitle 2">
            <a:extLst>
              <a:ext uri="{FF2B5EF4-FFF2-40B4-BE49-F238E27FC236}">
                <a16:creationId xmlns:a16="http://schemas.microsoft.com/office/drawing/2014/main" id="{A023EBF9-5ECA-0A3C-4526-79FB3D340539}"/>
              </a:ext>
            </a:extLst>
          </p:cNvPr>
          <p:cNvSpPr>
            <a:spLocks noGrp="1"/>
          </p:cNvSpPr>
          <p:nvPr>
            <p:ph type="subTitle"/>
          </p:nvPr>
        </p:nvSpPr>
        <p:spPr>
          <a:xfrm>
            <a:off x="156411" y="914040"/>
            <a:ext cx="8530029" cy="4667760"/>
          </a:xfrm>
        </p:spPr>
        <p:txBody>
          <a:bodyPr/>
          <a:lstStyle/>
          <a:p>
            <a:pPr marL="0" indent="0">
              <a:buNone/>
              <a:defRPr sz="2000">
                <a:latin typeface="Calibri"/>
              </a:defRPr>
            </a:pPr>
            <a:r>
              <a:rPr lang="en-US" sz="2300" b="1" dirty="0">
                <a:latin typeface="Times New Roman" panose="02020603050405020304" pitchFamily="18" charset="0"/>
                <a:cs typeface="Times New Roman" panose="02020603050405020304" pitchFamily="18" charset="0"/>
              </a:rPr>
              <a:t>Advantages</a:t>
            </a:r>
            <a:r>
              <a:rPr lang="en-US" sz="2300" dirty="0">
                <a:latin typeface="Times New Roman" panose="02020603050405020304" pitchFamily="18" charset="0"/>
                <a:cs typeface="Times New Roman" panose="02020603050405020304" pitchFamily="18" charset="0"/>
              </a:rPr>
              <a:t>:</a:t>
            </a:r>
          </a:p>
          <a:p>
            <a:pPr marL="0" indent="0">
              <a:buNone/>
              <a:defRPr sz="2000">
                <a:latin typeface="Calibri"/>
              </a:defRPr>
            </a:pPr>
            <a:r>
              <a:rPr lang="en-US" dirty="0">
                <a:latin typeface="Times New Roman" panose="02020603050405020304" pitchFamily="18" charset="0"/>
                <a:cs typeface="Times New Roman" panose="02020603050405020304" pitchFamily="18" charset="0"/>
              </a:rPr>
              <a:t>• Fast disease detection</a:t>
            </a:r>
          </a:p>
          <a:p>
            <a:pPr marL="0" indent="0">
              <a:buNone/>
              <a:defRPr sz="2000">
                <a:latin typeface="Calibri"/>
              </a:defRPr>
            </a:pPr>
            <a:r>
              <a:rPr lang="en-US" dirty="0">
                <a:latin typeface="Times New Roman" panose="02020603050405020304" pitchFamily="18" charset="0"/>
                <a:cs typeface="Times New Roman" panose="02020603050405020304" pitchFamily="18" charset="0"/>
              </a:rPr>
              <a:t>• Reduced manual effort</a:t>
            </a:r>
          </a:p>
          <a:p>
            <a:pPr marL="0" indent="0">
              <a:buNone/>
              <a:defRPr sz="2000">
                <a:latin typeface="Calibri"/>
              </a:defRPr>
            </a:pPr>
            <a:r>
              <a:rPr lang="en-US" dirty="0">
                <a:latin typeface="Times New Roman" panose="02020603050405020304" pitchFamily="18" charset="0"/>
                <a:cs typeface="Times New Roman" panose="02020603050405020304" pitchFamily="18" charset="0"/>
              </a:rPr>
              <a:t>• Better crop monitoring</a:t>
            </a:r>
          </a:p>
          <a:p>
            <a:pPr>
              <a:defRPr sz="2000">
                <a:latin typeface="Calibri"/>
              </a:defRPr>
            </a:pPr>
            <a:endParaRPr lang="en-US" dirty="0">
              <a:latin typeface="Times New Roman" panose="02020603050405020304" pitchFamily="18" charset="0"/>
              <a:cs typeface="Times New Roman" panose="02020603050405020304" pitchFamily="18" charset="0"/>
            </a:endParaRPr>
          </a:p>
          <a:p>
            <a:pPr marL="0" indent="0">
              <a:buNone/>
              <a:defRPr sz="2000">
                <a:latin typeface="Calibri"/>
              </a:defRPr>
            </a:pPr>
            <a:r>
              <a:rPr lang="en-US" sz="2300" b="1" dirty="0">
                <a:latin typeface="Times New Roman" panose="02020603050405020304" pitchFamily="18" charset="0"/>
                <a:cs typeface="Times New Roman" panose="02020603050405020304" pitchFamily="18" charset="0"/>
              </a:rPr>
              <a:t>Applications</a:t>
            </a:r>
            <a:r>
              <a:rPr lang="en-US" sz="2300" dirty="0">
                <a:latin typeface="Times New Roman" panose="02020603050405020304" pitchFamily="18" charset="0"/>
                <a:cs typeface="Times New Roman" panose="02020603050405020304" pitchFamily="18" charset="0"/>
              </a:rPr>
              <a:t>:</a:t>
            </a:r>
          </a:p>
          <a:p>
            <a:pPr marL="0" indent="0">
              <a:buNone/>
              <a:defRPr sz="2000">
                <a:latin typeface="Calibri"/>
              </a:defRPr>
            </a:pPr>
            <a:r>
              <a:rPr lang="en-US" dirty="0">
                <a:latin typeface="Times New Roman" panose="02020603050405020304" pitchFamily="18" charset="0"/>
                <a:cs typeface="Times New Roman" panose="02020603050405020304" pitchFamily="18" charset="0"/>
              </a:rPr>
              <a:t>• Smart Farming</a:t>
            </a:r>
          </a:p>
          <a:p>
            <a:pPr marL="0" indent="0">
              <a:buNone/>
              <a:defRPr sz="2000">
                <a:latin typeface="Calibri"/>
              </a:defRPr>
            </a:pPr>
            <a:r>
              <a:rPr lang="en-US" dirty="0">
                <a:latin typeface="Times New Roman" panose="02020603050405020304" pitchFamily="18" charset="0"/>
                <a:cs typeface="Times New Roman" panose="02020603050405020304" pitchFamily="18" charset="0"/>
              </a:rPr>
              <a:t>• AI-based Crop Monitoring</a:t>
            </a:r>
          </a:p>
          <a:p>
            <a:pPr marL="0" indent="0">
              <a:buNone/>
              <a:defRPr sz="2000">
                <a:latin typeface="Calibri"/>
              </a:defRPr>
            </a:pPr>
            <a:r>
              <a:rPr lang="en-US" dirty="0">
                <a:latin typeface="Times New Roman" panose="02020603050405020304" pitchFamily="18" charset="0"/>
                <a:cs typeface="Times New Roman" panose="02020603050405020304" pitchFamily="18" charset="0"/>
              </a:rPr>
              <a:t>• Mobile Disease Detection Systems</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646984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241F75-2945-B129-EB38-037C71003A9F}"/>
              </a:ext>
            </a:extLst>
          </p:cNvPr>
          <p:cNvSpPr>
            <a:spLocks noGrp="1"/>
          </p:cNvSpPr>
          <p:nvPr>
            <p:ph type="title"/>
          </p:nvPr>
        </p:nvSpPr>
        <p:spPr/>
        <p:txBody>
          <a:bodyPr/>
          <a:lstStyle/>
          <a:p>
            <a:pPr algn="ctr"/>
            <a:r>
              <a:rPr lang="en-IN" sz="3200" dirty="0">
                <a:latin typeface="Times New Roman" panose="02020603050405020304" pitchFamily="18" charset="0"/>
                <a:cs typeface="Times New Roman" panose="02020603050405020304" pitchFamily="18" charset="0"/>
              </a:rPr>
              <a:t>Conclusion and Future Scope</a:t>
            </a:r>
          </a:p>
        </p:txBody>
      </p:sp>
      <p:sp>
        <p:nvSpPr>
          <p:cNvPr id="3" name="Subtitle 2">
            <a:extLst>
              <a:ext uri="{FF2B5EF4-FFF2-40B4-BE49-F238E27FC236}">
                <a16:creationId xmlns:a16="http://schemas.microsoft.com/office/drawing/2014/main" id="{4518C00A-5865-B029-FD0C-DEF6DB45841E}"/>
              </a:ext>
            </a:extLst>
          </p:cNvPr>
          <p:cNvSpPr>
            <a:spLocks noGrp="1"/>
          </p:cNvSpPr>
          <p:nvPr>
            <p:ph type="subTitle"/>
          </p:nvPr>
        </p:nvSpPr>
        <p:spPr>
          <a:xfrm>
            <a:off x="204537" y="625642"/>
            <a:ext cx="8481903" cy="4956158"/>
          </a:xfrm>
        </p:spPr>
        <p:txBody>
          <a:bodyPr/>
          <a:lstStyle/>
          <a:p>
            <a:pPr marL="0" indent="0">
              <a:buNone/>
              <a:defRPr sz="2000">
                <a:latin typeface="Calibri"/>
              </a:defRPr>
            </a:pPr>
            <a:r>
              <a:rPr lang="en-US" sz="2100" dirty="0">
                <a:latin typeface="Times New Roman" panose="02020603050405020304" pitchFamily="18" charset="0"/>
                <a:cs typeface="Times New Roman" panose="02020603050405020304" pitchFamily="18" charset="0"/>
              </a:rPr>
              <a:t>• ResNet152V2 successfully classified bean leaf diseases.</a:t>
            </a:r>
          </a:p>
          <a:p>
            <a:pPr marL="0" indent="0">
              <a:buNone/>
              <a:defRPr sz="2000">
                <a:latin typeface="Calibri"/>
              </a:defRPr>
            </a:pPr>
            <a:r>
              <a:rPr lang="en-US" sz="2100" dirty="0">
                <a:latin typeface="Times New Roman" panose="02020603050405020304" pitchFamily="18" charset="0"/>
                <a:cs typeface="Times New Roman" panose="02020603050405020304" pitchFamily="18" charset="0"/>
              </a:rPr>
              <a:t>• Achieved strong performance with 88% accuracy.</a:t>
            </a:r>
          </a:p>
          <a:p>
            <a:pPr marL="0" indent="0">
              <a:buNone/>
              <a:defRPr sz="2000">
                <a:latin typeface="Calibri"/>
              </a:defRPr>
            </a:pPr>
            <a:r>
              <a:rPr lang="en-US" sz="2100" dirty="0">
                <a:latin typeface="Times New Roman" panose="02020603050405020304" pitchFamily="18" charset="0"/>
                <a:cs typeface="Times New Roman" panose="02020603050405020304" pitchFamily="18" charset="0"/>
              </a:rPr>
              <a:t>• AI can improve agriculture through early disease detection.</a:t>
            </a:r>
          </a:p>
          <a:p>
            <a:pPr>
              <a:defRPr sz="2000">
                <a:latin typeface="Calibri"/>
              </a:defRPr>
            </a:pPr>
            <a:endParaRPr lang="en-US" sz="2100" dirty="0">
              <a:latin typeface="Times New Roman" panose="02020603050405020304" pitchFamily="18" charset="0"/>
              <a:cs typeface="Times New Roman" panose="02020603050405020304" pitchFamily="18" charset="0"/>
            </a:endParaRPr>
          </a:p>
          <a:p>
            <a:pPr marL="0" indent="0">
              <a:buNone/>
              <a:defRPr sz="2000">
                <a:latin typeface="Calibri"/>
              </a:defRPr>
            </a:pPr>
            <a:r>
              <a:rPr lang="en-US" sz="2300" b="1" dirty="0">
                <a:latin typeface="Times New Roman" panose="02020603050405020304" pitchFamily="18" charset="0"/>
                <a:cs typeface="Times New Roman" panose="02020603050405020304" pitchFamily="18" charset="0"/>
              </a:rPr>
              <a:t>Future Scope:</a:t>
            </a:r>
          </a:p>
          <a:p>
            <a:pPr marL="0" indent="0">
              <a:buNone/>
              <a:defRPr sz="2000">
                <a:latin typeface="Calibri"/>
              </a:defRPr>
            </a:pPr>
            <a:r>
              <a:rPr lang="en-US" sz="2100" dirty="0">
                <a:latin typeface="Times New Roman" panose="02020603050405020304" pitchFamily="18" charset="0"/>
                <a:cs typeface="Times New Roman" panose="02020603050405020304" pitchFamily="18" charset="0"/>
              </a:rPr>
              <a:t>• Larger datasets</a:t>
            </a:r>
          </a:p>
          <a:p>
            <a:pPr marL="0" indent="0">
              <a:buNone/>
              <a:defRPr sz="2000">
                <a:latin typeface="Calibri"/>
              </a:defRPr>
            </a:pPr>
            <a:r>
              <a:rPr lang="en-US" sz="2100" dirty="0">
                <a:latin typeface="Times New Roman" panose="02020603050405020304" pitchFamily="18" charset="0"/>
                <a:cs typeface="Times New Roman" panose="02020603050405020304" pitchFamily="18" charset="0"/>
              </a:rPr>
              <a:t>• Real-time mobile application</a:t>
            </a:r>
          </a:p>
          <a:p>
            <a:pPr marL="0" indent="0">
              <a:buNone/>
              <a:defRPr sz="2000">
                <a:latin typeface="Calibri"/>
              </a:defRPr>
            </a:pPr>
            <a:r>
              <a:rPr lang="en-US" sz="2100" dirty="0">
                <a:latin typeface="Times New Roman" panose="02020603050405020304" pitchFamily="18" charset="0"/>
                <a:cs typeface="Times New Roman" panose="02020603050405020304" pitchFamily="18" charset="0"/>
              </a:rPr>
              <a:t>• Advanced model comparison</a:t>
            </a:r>
          </a:p>
          <a:p>
            <a:endParaRPr lang="en-IN" sz="21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694114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1297577" y="2821578"/>
            <a:ext cx="6705599" cy="1410788"/>
          </a:xfrm>
          <a:prstGeom prst="rect">
            <a:avLst/>
          </a:prstGeom>
          <a:noFill/>
          <a:ln w="9360">
            <a:noFill/>
          </a:ln>
        </p:spPr>
        <p:txBody>
          <a:bodyPr anchor="ctr">
            <a:noAutofit/>
          </a:bodyPr>
          <a:lstStyle/>
          <a:p>
            <a:pPr algn="ctr">
              <a:lnSpc>
                <a:spcPct val="100000"/>
              </a:lnSpc>
            </a:pPr>
            <a:r>
              <a:rPr lang="en" sz="5400" dirty="0">
                <a:latin typeface="Times New Roman" panose="02020603050405020304" pitchFamily="18" charset="0"/>
                <a:cs typeface="Times New Roman" panose="02020603050405020304" pitchFamily="18" charset="0"/>
              </a:rPr>
              <a:t>Thank You</a:t>
            </a:r>
            <a:endParaRPr lang="en-US" sz="54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12</a:t>
            </a:fld>
            <a:endParaRPr lang="en-GB" sz="1200" b="0" strike="noStrike" spc="-1">
              <a:latin typeface="Times New Roman"/>
            </a:endParaRPr>
          </a:p>
        </p:txBody>
      </p:sp>
    </p:spTree>
    <p:extLst>
      <p:ext uri="{BB962C8B-B14F-4D97-AF65-F5344CB8AC3E}">
        <p14:creationId xmlns:p14="http://schemas.microsoft.com/office/powerpoint/2010/main" val="28344798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096F1BF43DDE004485E7A868D137D60A" ma:contentTypeVersion="0" ma:contentTypeDescription="Create a new document." ma:contentTypeScope="" ma:versionID="47fff7f98a9c49c088ba096c14cf4458">
  <xsd:schema xmlns:xsd="http://www.w3.org/2001/XMLSchema" xmlns:xs="http://www.w3.org/2001/XMLSchema" xmlns:p="http://schemas.microsoft.com/office/2006/metadata/properties" targetNamespace="http://schemas.microsoft.com/office/2006/metadata/properties" ma:root="true" ma:fieldsID="c05e9f2c4932a6a674126b9dde7716e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A62A602-78C1-468C-BB25-57CD481DB741}">
  <ds:schemaRefs>
    <ds:schemaRef ds:uri="http://purl.org/dc/terms/"/>
    <ds:schemaRef ds:uri="http://www.w3.org/XML/1998/namespace"/>
    <ds:schemaRef ds:uri="http://purl.org/dc/dcmitype/"/>
    <ds:schemaRef ds:uri="http://schemas.microsoft.com/office/2006/documentManagement/types"/>
    <ds:schemaRef ds:uri="http://schemas.microsoft.com/office/2006/metadata/properties"/>
    <ds:schemaRef ds:uri="http://purl.org/dc/elements/1.1/"/>
    <ds:schemaRef ds:uri="http://schemas.microsoft.com/office/infopath/2007/PartnerControls"/>
    <ds:schemaRef ds:uri="http://schemas.openxmlformats.org/package/2006/metadata/core-properties"/>
  </ds:schemaRefs>
</ds:datastoreItem>
</file>

<file path=customXml/itemProps2.xml><?xml version="1.0" encoding="utf-8"?>
<ds:datastoreItem xmlns:ds="http://schemas.openxmlformats.org/officeDocument/2006/customXml" ds:itemID="{737ED6F0-5E4C-4CD0-9B68-9C53F925A6F7}">
  <ds:schemaRefs>
    <ds:schemaRef ds:uri="http://schemas.microsoft.com/sharepoint/v3/contenttype/forms"/>
  </ds:schemaRefs>
</ds:datastoreItem>
</file>

<file path=customXml/itemProps3.xml><?xml version="1.0" encoding="utf-8"?>
<ds:datastoreItem xmlns:ds="http://schemas.openxmlformats.org/officeDocument/2006/customXml" ds:itemID="{491DF113-39A2-46D5-BFDA-E63300A9ECA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
  <TotalTime>34741</TotalTime>
  <Words>706</Words>
  <Application>Microsoft Office PowerPoint</Application>
  <PresentationFormat>On-screen Show (4:3)</PresentationFormat>
  <Paragraphs>137</Paragraphs>
  <Slides>12</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Times New Roman</vt:lpstr>
      <vt:lpstr>Office Theme</vt:lpstr>
      <vt:lpstr>PowerPoint Presentation</vt:lpstr>
      <vt:lpstr>PowerPoint Presentation</vt:lpstr>
      <vt:lpstr>Problem Statement</vt:lpstr>
      <vt:lpstr>Proposed Solution</vt:lpstr>
      <vt:lpstr>Objectives</vt:lpstr>
      <vt:lpstr>Dataset Information</vt:lpstr>
      <vt:lpstr>Methodology</vt:lpstr>
      <vt:lpstr>Model Used — ResNet152V2</vt:lpstr>
      <vt:lpstr>Performance Metrics</vt:lpstr>
      <vt:lpstr>Advantages and Application</vt:lpstr>
      <vt:lpstr>Conclusion and Future Scope</vt:lpstr>
      <vt:lpstr>PowerPoint Presentation</vt:lpstr>
    </vt:vector>
  </TitlesOfParts>
  <Company>CCC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ABC</dc:creator>
  <cp:lastModifiedBy>_prianshu _04</cp:lastModifiedBy>
  <cp:revision>2299</cp:revision>
  <dcterms:created xsi:type="dcterms:W3CDTF">2010-04-09T07:36:15Z</dcterms:created>
  <dcterms:modified xsi:type="dcterms:W3CDTF">2026-05-14T07:34:55Z</dcterms:modified>
  <dc:language>en-GB</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Company">
    <vt:lpwstr>CCC</vt:lpwstr>
  </property>
  <property fmtid="{D5CDD505-2E9C-101B-9397-08002B2CF9AE}" pid="4" name="HiddenSlides">
    <vt:i4>0</vt:i4>
  </property>
  <property fmtid="{D5CDD505-2E9C-101B-9397-08002B2CF9AE}" pid="5" name="HyperlinksChanged">
    <vt:bool>false</vt:bool>
  </property>
  <property fmtid="{D5CDD505-2E9C-101B-9397-08002B2CF9AE}" pid="6" name="LinksUpToDate">
    <vt:bool>false</vt:bool>
  </property>
  <property fmtid="{D5CDD505-2E9C-101B-9397-08002B2CF9AE}" pid="7" name="MMClips">
    <vt:i4>0</vt:i4>
  </property>
  <property fmtid="{D5CDD505-2E9C-101B-9397-08002B2CF9AE}" pid="8" name="Notes">
    <vt:i4>0</vt:i4>
  </property>
  <property fmtid="{D5CDD505-2E9C-101B-9397-08002B2CF9AE}" pid="9" name="PresentationFormat">
    <vt:lpwstr>On-screen Show (4:3)</vt:lpwstr>
  </property>
  <property fmtid="{D5CDD505-2E9C-101B-9397-08002B2CF9AE}" pid="10" name="ScaleCrop">
    <vt:bool>false</vt:bool>
  </property>
  <property fmtid="{D5CDD505-2E9C-101B-9397-08002B2CF9AE}" pid="11" name="ShareDoc">
    <vt:bool>false</vt:bool>
  </property>
  <property fmtid="{D5CDD505-2E9C-101B-9397-08002B2CF9AE}" pid="12" name="Slides">
    <vt:i4>37</vt:i4>
  </property>
  <property fmtid="{D5CDD505-2E9C-101B-9397-08002B2CF9AE}" pid="13" name="ContentTypeId">
    <vt:lpwstr>0x010100096F1BF43DDE004485E7A868D137D60A</vt:lpwstr>
  </property>
</Properties>
</file>